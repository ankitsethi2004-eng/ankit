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777240"/>
            <a:ext cx="310896" cy="310896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78638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320">
                <a:solidFill>
                  <a:srgbClr val="161817"/>
                </a:solidFill>
                <a:latin typeface="Arial"/>
              </a:rPr>
              <a:t>DAILYOBJECTS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127A52"/>
                </a:solidFill>
                <a:latin typeface="Arial"/>
              </a:rPr>
              <a:t>STRATEGIC PROPOSAL  ·  ECOMMERCE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9748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200" b="1" i="0" spc="-100">
                <a:solidFill>
                  <a:srgbClr val="161817"/>
                </a:solidFill>
                <a:latin typeface="Arial"/>
              </a:rPr>
              <a:t>From Storefront</a:t>
            </a:r>
          </a:p>
          <a:p>
            <a:pPr algn="l">
              <a:lnSpc>
                <a:spcPct val="98000"/>
              </a:lnSpc>
            </a:pPr>
            <a:r>
              <a:rPr sz="6200" b="1" i="0" spc="-100">
                <a:solidFill>
                  <a:srgbClr val="127A52"/>
                </a:solidFill>
                <a:latin typeface="Arial"/>
              </a:rPr>
              <a:t>to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4892040"/>
            <a:ext cx="731520" cy="45720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12064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0">
                <a:solidFill>
                  <a:srgbClr val="323533"/>
                </a:solidFill>
                <a:latin typeface="Arial"/>
              </a:rPr>
              <a:t>A blueprint to transform DailyObjects into a premium, world-class consumer experience —</a:t>
            </a:r>
          </a:p>
          <a:p>
            <a:pPr algn="l">
              <a:lnSpc>
                <a:spcPct val="134000"/>
              </a:lnSpc>
            </a:pPr>
            <a:r>
              <a:rPr sz="1550" b="0" i="0">
                <a:solidFill>
                  <a:srgbClr val="323533"/>
                </a:solidFill>
                <a:latin typeface="Arial"/>
              </a:rPr>
              <a:t>decoded from Zara and On, and wired to conversion, AOV and brand love.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6355080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 spc="60">
                <a:solidFill>
                  <a:srgbClr val="6B6F6C"/>
                </a:solidFill>
                <a:latin typeface="Arial"/>
              </a:rPr>
              <a:t>Prepared for the CEO  ·  Board-level review  · 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0047" y="64190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 spc="160">
                <a:solidFill>
                  <a:srgbClr val="9A9E9B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What’s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Seven moves that transform the DailyObjects experience — the whole story, in one page.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2139696"/>
            <a:ext cx="10509199" cy="0"/>
          </a:xfrm>
          <a:prstGeom prst="bentConnector3">
            <a:avLst/>
          </a:prstGeom>
          <a:ln w="12700">
            <a:solidFill>
              <a:srgbClr val="1618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1945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50">
                <a:solidFill>
                  <a:srgbClr val="127A52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21945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61817"/>
                </a:solidFill>
                <a:latin typeface="Arial"/>
              </a:rPr>
              <a:t>Learning from Zara &amp;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194560"/>
            <a:ext cx="47484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B6F6C"/>
                </a:solidFill>
                <a:latin typeface="Arial"/>
              </a:rPr>
              <a:t>Decoding two opposite paths to a premium feel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2743200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27432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50">
                <a:solidFill>
                  <a:srgbClr val="127A52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7432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61817"/>
                </a:solidFill>
                <a:latin typeface="Arial"/>
              </a:rPr>
              <a:t>The PDP Content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743200"/>
            <a:ext cx="47484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B6F6C"/>
                </a:solidFill>
                <a:latin typeface="Arial"/>
              </a:rPr>
              <a:t>Naming, copy &amp; content that quietly erode trust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3291840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3291839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50">
                <a:solidFill>
                  <a:srgbClr val="127A52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3291839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61817"/>
                </a:solidFill>
                <a:latin typeface="Arial"/>
              </a:rPr>
              <a:t>Reimagining the PDP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291839"/>
            <a:ext cx="47484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B6F6C"/>
                </a:solidFill>
                <a:latin typeface="Arial"/>
              </a:rPr>
              <a:t>From a static spec block to a sequenced stage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840479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840479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50">
                <a:solidFill>
                  <a:srgbClr val="127A52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3840479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61817"/>
                </a:solidFill>
                <a:latin typeface="Arial"/>
              </a:rPr>
              <a:t>The PLP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840479"/>
            <a:ext cx="47484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B6F6C"/>
                </a:solidFill>
                <a:latin typeface="Arial"/>
              </a:rPr>
              <a:t>Parent-child curation for a premium, uncluttered grid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389119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3891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50">
                <a:solidFill>
                  <a:srgbClr val="127A52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438912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61817"/>
                </a:solidFill>
                <a:latin typeface="Arial"/>
              </a:rPr>
              <a:t>Category Hierarchy &amp; Taxonomy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389120"/>
            <a:ext cx="47484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B6F6C"/>
                </a:solidFill>
                <a:latin typeface="Arial"/>
              </a:rPr>
              <a:t>Six doors, two lenses, one canonical truth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937759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9377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50">
                <a:solidFill>
                  <a:srgbClr val="127A52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49377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61817"/>
                </a:solidFill>
                <a:latin typeface="Arial"/>
              </a:rPr>
              <a:t>The Search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937760"/>
            <a:ext cx="47484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B6F6C"/>
                </a:solidFill>
                <a:latin typeface="Arial"/>
              </a:rPr>
              <a:t>From a lookup box to a discovery engine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486400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4864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50">
                <a:solidFill>
                  <a:srgbClr val="127A52"/>
                </a:solidFill>
                <a:latin typeface="Arial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54864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61817"/>
                </a:solidFill>
                <a:latin typeface="Arial"/>
              </a:rPr>
              <a:t>The Prioritised 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5486400"/>
            <a:ext cx="47484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6B6F6C"/>
                </a:solidFill>
                <a:latin typeface="Arial"/>
              </a:rPr>
              <a:t>Quick wins, medium-term &amp; big bets — sequenced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 i="0" spc="-100">
                <a:solidFill>
                  <a:srgbClr val="2B2E2C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spc="-40">
                <a:solidFill>
                  <a:srgbClr val="FFFFFF"/>
                </a:solidFill>
                <a:latin typeface="Arial"/>
              </a:rPr>
              <a:t>Learning from Zara &amp;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886200"/>
            <a:ext cx="64008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8CBC8"/>
                </a:solidFill>
                <a:latin typeface="Arial"/>
              </a:rPr>
              <a:t>Two opposite paths to the same feeling of premium — decoded into what DailyObjects should adopt.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91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LEARNING FROM THE BEST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Two philosophies, one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Zara and On feel premium for almost opposite reasons. Decoding why — not copying either — is what makes this useful.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5071719" cy="301752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542032"/>
            <a:ext cx="4523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 spc="200">
                <a:solidFill>
                  <a:srgbClr val="161817"/>
                </a:solidFill>
                <a:latin typeface="Arial"/>
              </a:rPr>
              <a:t>ZARA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907792"/>
            <a:ext cx="4523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7A52"/>
                </a:solidFill>
                <a:latin typeface="Arial"/>
              </a:rPr>
              <a:t>Premium through subtraction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310128"/>
            <a:ext cx="45047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Full-bleed fashion-magazine imagery, brutal whitespace, near-invisible UI chrome, oversized type. The store gets out of the way of the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736592"/>
            <a:ext cx="4523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61817"/>
                </a:solidFill>
                <a:latin typeface="Arial"/>
              </a:rPr>
              <a:t>The lesson:  </a:t>
            </a:r>
            <a:r>
              <a:rPr sz="1100" b="0" i="0">
                <a:solidFill>
                  <a:srgbClr val="6B6F6C"/>
                </a:solidFill>
                <a:latin typeface="Arial"/>
              </a:rPr>
              <a:t>borrow the editorial confidence — fix the usability it sacrifices.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2331720"/>
            <a:ext cx="5071719" cy="301752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1335" y="2542032"/>
            <a:ext cx="4523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 spc="200">
                <a:solidFill>
                  <a:srgbClr val="161817"/>
                </a:solidFill>
                <a:latin typeface="Arial"/>
              </a:rPr>
              <a:t>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1335" y="2907792"/>
            <a:ext cx="4523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7A52"/>
                </a:solidFill>
                <a:latin typeface="Arial"/>
              </a:rPr>
              <a:t>Premium through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3310128"/>
            <a:ext cx="45047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Swiss precision, named technology (CloudTec®, LightSpray™), test narratives, strong trust scaffolding. Quality is demonstrated, not asserted.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1335" y="4736592"/>
            <a:ext cx="4523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61817"/>
                </a:solidFill>
                <a:latin typeface="Arial"/>
              </a:rPr>
              <a:t>The lesson:  </a:t>
            </a:r>
            <a:r>
              <a:rPr sz="1100" b="0" i="0">
                <a:solidFill>
                  <a:srgbClr val="6B6F6C"/>
                </a:solidFill>
                <a:latin typeface="Arial"/>
              </a:rPr>
              <a:t>earn the premium with evidence — materials, artisans, awards, reviews.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FOR DAILYOBJECTS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DailyObjects sits between the two. The winning posture: Zara’s editorial art direction to earn attention, On’s evidentiary trust to earn the sale. Lead with beauty; back it with proof.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Learning from Zara &amp; 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HOMEPAGE  · 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The first five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Premium perception is decided before a word is read. Both brands engineer the opening frame deliberately.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3320186" cy="228600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18211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Insert DailyObjects homepage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19856"/>
            <a:ext cx="332018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9A9E9B"/>
                </a:solidFill>
                <a:latin typeface="Arial"/>
              </a:rPr>
              <a:t>Mobile — first fold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5754" y="2331720"/>
            <a:ext cx="3320186" cy="228600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5754" y="318211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Insert Zara homepage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5754" y="3419856"/>
            <a:ext cx="332018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9A9E9B"/>
                </a:solidFill>
                <a:latin typeface="Arial"/>
              </a:rPr>
              <a:t>Mobile — first fold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0260" y="2331720"/>
            <a:ext cx="3320186" cy="228600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0260" y="318211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Insert On homepage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0260" y="3419856"/>
            <a:ext cx="332018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9A9E9B"/>
                </a:solidFill>
                <a:latin typeface="Arial"/>
              </a:rPr>
              <a:t>Mobile — 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73659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B86E1E"/>
                </a:solidFill>
                <a:latin typeface="Arial"/>
              </a:rPr>
              <a:t>DAILYOBJECTS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992624"/>
            <a:ext cx="332018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Multiple offers competing; category tiles + value bars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5754" y="473659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127A52"/>
                </a:solidFill>
                <a:latin typeface="Arial"/>
              </a:rPr>
              <a:t>ZARA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5754" y="4992624"/>
            <a:ext cx="332018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One editorial image, almost no text — enters like a magazine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0260" y="473659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127A52"/>
                </a:solidFill>
                <a:latin typeface="Arial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0260" y="4992624"/>
            <a:ext cx="332018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Cinematic hero, one story — sells a lifestyle, not a SKU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THE MOVE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Pull the discount % out of the hero. Lead with one emotional idea and one CTA. A short hero film makes the product aspirational before any spec is read — restraint reads as premium.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Learning from Zara &amp;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NAVIGATION &amp;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Finding without overwhelming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Organise around goals, not the warehouse — hide complexity, reveal curated stories.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3320186" cy="21945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13639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Insert DailyObjects menu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374136"/>
            <a:ext cx="332018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9A9E9B"/>
                </a:solidFill>
                <a:latin typeface="Arial"/>
              </a:rPr>
              <a:t>Open mobile menu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5754" y="2331720"/>
            <a:ext cx="3320186" cy="21945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5754" y="313639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Insert Zara menu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5754" y="3374136"/>
            <a:ext cx="332018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9A9E9B"/>
                </a:solidFill>
                <a:latin typeface="Arial"/>
              </a:rPr>
              <a:t>Mobile menu, open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0260" y="2331720"/>
            <a:ext cx="3320186" cy="21945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0260" y="313639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Insert On menu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0260" y="3374136"/>
            <a:ext cx="332018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9A9E9B"/>
                </a:solidFill>
                <a:latin typeface="Arial"/>
              </a:rPr>
              <a:t>Mobile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64515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B86E1E"/>
                </a:solidFill>
                <a:latin typeface="Arial"/>
              </a:rPr>
              <a:t>DAILYOBJECTS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901184"/>
            <a:ext cx="332018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Organised by product type; many categories at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5754" y="464515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127A52"/>
                </a:solidFill>
                <a:latin typeface="Arial"/>
              </a:rPr>
              <a:t>ZARA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5754" y="4901184"/>
            <a:ext cx="332018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Ultra-minimal; complexity hidden, imagery drives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0260" y="4645152"/>
            <a:ext cx="33201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00">
                <a:solidFill>
                  <a:srgbClr val="127A52"/>
                </a:solidFill>
                <a:latin typeface="Arial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0260" y="4901184"/>
            <a:ext cx="332018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Intent-led (road, trail, everyday); stories inside the nav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THE MOVE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Add intent entries — Travel, WFH, Gifting — and a ‘Shop your device’ shortcut. Raise search prominence. For an accessories brand, ‘what device do you have?’ is the most predictive question you can ask.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Learning from Zara &amp;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PRODUCT LISTING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The grid is a curation, not a dump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Density signals discount. Air signals designer. The card does the selling.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4572000" cy="301752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54787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Insert Zara / On PLP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8561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9A9E9B"/>
                </a:solidFill>
                <a:latin typeface="Arial"/>
              </a:rPr>
              <a:t>Large tiles · hover 2nd image · swatches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9008" y="2377440"/>
            <a:ext cx="557143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5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50" b="1" i="0">
                <a:solidFill>
                  <a:srgbClr val="161817"/>
                </a:solidFill>
                <a:latin typeface="Arial"/>
              </a:rPr>
              <a:t>Density &amp; whitespace  </a:t>
            </a:r>
            <a:r>
              <a:rPr sz="1150" b="0" i="0">
                <a:solidFill>
                  <a:srgbClr val="323533"/>
                </a:solidFill>
                <a:latin typeface="Arial"/>
              </a:rPr>
              <a:t>2–3 large images per row, generous gaps — fewer products, more desirability.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</a:pPr>
            <a:r>
              <a:rPr sz="115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50" b="1" i="0">
                <a:solidFill>
                  <a:srgbClr val="161817"/>
                </a:solidFill>
                <a:latin typeface="Arial"/>
              </a:rPr>
              <a:t>Product cards  </a:t>
            </a:r>
            <a:r>
              <a:rPr sz="1150" b="0" i="0">
                <a:solidFill>
                  <a:srgbClr val="323533"/>
                </a:solidFill>
                <a:latin typeface="Arial"/>
              </a:rPr>
              <a:t>Image-dominant, minimal text, price understated; hover swaps to a lifestyle image.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</a:pPr>
            <a:r>
              <a:rPr sz="115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50" b="1" i="0">
                <a:solidFill>
                  <a:srgbClr val="161817"/>
                </a:solidFill>
                <a:latin typeface="Arial"/>
              </a:rPr>
              <a:t>Swatches &amp; parent-child  </a:t>
            </a:r>
            <a:r>
              <a:rPr sz="1150" b="0" i="0">
                <a:solidFill>
                  <a:srgbClr val="323533"/>
                </a:solidFill>
                <a:latin typeface="Arial"/>
              </a:rPr>
              <a:t>Colour swatches let one tile represent a family without multiplying noise.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</a:pPr>
            <a:r>
              <a:rPr sz="115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50" b="1" i="0">
                <a:solidFill>
                  <a:srgbClr val="161817"/>
                </a:solidFill>
                <a:latin typeface="Arial"/>
              </a:rPr>
              <a:t>Badges, used sparingly  </a:t>
            </a:r>
            <a:r>
              <a:rPr sz="1150" b="0" i="0">
                <a:solidFill>
                  <a:srgbClr val="323533"/>
                </a:solidFill>
                <a:latin typeface="Arial"/>
              </a:rPr>
              <a:t>‘New’, ‘Bestseller’, ‘Low stock’ — each carries weight only because it’s rare.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</a:pPr>
            <a:r>
              <a:rPr sz="115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50" b="1" i="0">
                <a:solidFill>
                  <a:srgbClr val="161817"/>
                </a:solidFill>
                <a:latin typeface="Arial"/>
              </a:rPr>
              <a:t>Editorial modules  </a:t>
            </a:r>
            <a:r>
              <a:rPr sz="1150" b="0" i="0">
                <a:solidFill>
                  <a:srgbClr val="323533"/>
                </a:solidFill>
                <a:latin typeface="Arial"/>
              </a:rPr>
              <a:t>A lifestyle banner every ~8–12 products breaks the grid and re-immerses.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ADOPT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Fewer, larger tiles + hover 2nd image + swatches + progressive filters. Adopt On’s clear, progressive filtering — and avoid Zara’s hidden-filter anti-pattern.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Learning from Zara &amp;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PRODUCT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Where perception becomes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The PDP is where Zara’s beauty and On’s proof both pay off — our single highest-leverage page.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5071719" cy="297180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505456"/>
            <a:ext cx="461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120">
                <a:solidFill>
                  <a:srgbClr val="161817"/>
                </a:solidFill>
                <a:latin typeface="Arial"/>
              </a:rPr>
              <a:t>THE VISUAL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79776"/>
            <a:ext cx="461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127A52"/>
                </a:solidFill>
                <a:latin typeface="Arial"/>
              </a:rPr>
              <a:t>Zara’s strength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127248"/>
            <a:ext cx="456879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Hero gallery dominant — 55–65% of viewport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Smooth zoom, video, 360° spin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Sparse, confident copy; whitespace = importance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331720"/>
            <a:ext cx="5071719" cy="2971800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2505456"/>
            <a:ext cx="461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120">
                <a:solidFill>
                  <a:srgbClr val="0B4A34"/>
                </a:solidFill>
                <a:latin typeface="Arial"/>
              </a:rPr>
              <a:t>THE PROOF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779776"/>
            <a:ext cx="461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127A52"/>
                </a:solidFill>
                <a:latin typeface="Arial"/>
              </a:rPr>
              <a:t>On’s strength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3127248"/>
            <a:ext cx="456879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Named materials &amp; tech, benefit-framed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Trust cluster: ratings, reviews, delivery, returns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Sticky add-to-cart; ‘complete the look’ &amp; bundles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THE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Today ~91% leave the PDP without adding to cart, and the carousel — which is the PDP for ~80% of buyers — carries no buying argument. Fuse beauty and proof, and wire it to conversion.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Learning from Zara &amp;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INTERACTION  ·  BRAND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Premium is a system, not a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Type, space, photography, motion and microcopy — premium is cumulative, and nothing is improvised.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333237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532888"/>
            <a:ext cx="45720" cy="5029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514600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1817"/>
                </a:solidFill>
                <a:latin typeface="Arial"/>
              </a:rPr>
              <a:t>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862072"/>
            <a:ext cx="294833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Slow, eased, cinematic (200–400ms). Calm reads premium; bounce reads cheap.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9658" y="2331720"/>
            <a:ext cx="333237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9658" y="2532888"/>
            <a:ext cx="45720" cy="5029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9114" y="2514600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1817"/>
                </a:solidFill>
                <a:latin typeface="Arial"/>
              </a:rPr>
              <a:t>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9114" y="2862072"/>
            <a:ext cx="294833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Skeleton screens, never spinners. Perceived speed beats actual speed.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8068" y="2331720"/>
            <a:ext cx="333237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8068" y="2532888"/>
            <a:ext cx="45720" cy="5029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7524" y="2514600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1817"/>
                </a:solidFill>
                <a:latin typeface="Arial"/>
              </a:rPr>
              <a:t>Photography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7524" y="2862072"/>
            <a:ext cx="294833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One art-direction system across every shot — unify grade, ratios, styling.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813048"/>
            <a:ext cx="333237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4014215"/>
            <a:ext cx="45720" cy="5029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995928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1817"/>
                </a:solidFill>
                <a:latin typeface="Arial"/>
              </a:rPr>
              <a:t>Typography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4343400"/>
            <a:ext cx="294833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A confident display face + generous sizing. Increase whitespace 1.5–2×.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9658" y="3813048"/>
            <a:ext cx="333237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9658" y="4014215"/>
            <a:ext cx="45720" cy="5029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9114" y="3995928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1817"/>
                </a:solidFill>
                <a:latin typeface="Arial"/>
              </a:rPr>
              <a:t>Micro-interactions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9114" y="4343400"/>
            <a:ext cx="294833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Image swap, swatch preview, add-to-cart fly, free-ship fill — feedback for every action.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8068" y="3813048"/>
            <a:ext cx="333237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8068" y="4014215"/>
            <a:ext cx="45720" cy="5029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7524" y="3995928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1817"/>
                </a:solidFill>
                <a:latin typeface="Arial"/>
              </a:rPr>
              <a:t>Microcopy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7524" y="4343400"/>
            <a:ext cx="294833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Confident brand voice over ‘BUY NOW / SALE’. Justify price with story, not discount.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FOUNDATION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A documented design system — tokens for type, colour, spacing, radius, motion — is the precondition for premium consistency. It is DailyObjects’ foundational investment.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Learning from Zara &amp; 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What DailyObjects should adopt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Borrow Zara’s editorial confidence and On’s evidentiary trust — area by area.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B6F6C"/>
                </a:solidFill>
                <a:latin typeface="Arial"/>
              </a:rP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5768" y="2286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B6F6C"/>
                </a:solidFill>
                <a:latin typeface="Arial"/>
              </a:rPr>
              <a:t>ZARA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8968" y="2286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B6F6C"/>
                </a:solidFill>
                <a:latin typeface="Arial"/>
              </a:rPr>
              <a:t>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2286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6B6F6C"/>
                </a:solidFill>
                <a:latin typeface="Arial"/>
              </a:rPr>
              <a:t>RECO — DAILYOBJECTS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2596896"/>
            <a:ext cx="10509199" cy="0"/>
          </a:xfrm>
          <a:prstGeom prst="bentConnector3">
            <a:avLst/>
          </a:prstGeom>
          <a:ln w="12700">
            <a:solidFill>
              <a:srgbClr val="1618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247888" y="2688336"/>
            <a:ext cx="3154679" cy="603503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74320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Homepage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743200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Full-bleed editorial hero, one CTA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74320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Product hero + innovation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743200"/>
            <a:ext cx="2926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B4A34"/>
                </a:solidFill>
                <a:latin typeface="Arial"/>
              </a:rPr>
              <a:t>Editorial hero, one message; pull the discount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3346703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47888" y="3346703"/>
            <a:ext cx="3154679" cy="603503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401568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PLP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3401568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Huge images, hover 2nd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3401568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Clean cards, swatches, clear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01568"/>
            <a:ext cx="2926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B4A34"/>
                </a:solidFill>
                <a:latin typeface="Arial"/>
              </a:rPr>
              <a:t>Fewer/larger tiles, swatches, progressive filters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005072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247888" y="4005072"/>
            <a:ext cx="3154679" cy="603503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059935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PDP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4059935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Gallery-dominant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4059935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Tech story + reviews + sticky ATC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4059935"/>
            <a:ext cx="2926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B4A34"/>
                </a:solidFill>
                <a:latin typeface="Arial"/>
              </a:rPr>
              <a:t>Enlarge gallery + add proof + sticky ATC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" y="4663440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247888" y="4663440"/>
            <a:ext cx="3154679" cy="603503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718304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4718304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Visual, instant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718304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Forgiving, compatibility-led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4718304"/>
            <a:ext cx="2926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B4A34"/>
                </a:solidFill>
                <a:latin typeface="Arial"/>
              </a:rPr>
              <a:t>Visual autocomplete + typo tolerance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32180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247888" y="5321808"/>
            <a:ext cx="3154679" cy="603503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376672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Cart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5768" y="5376672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Slide-over mini-cart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5376672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Express wallets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5376672"/>
            <a:ext cx="2926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B4A34"/>
                </a:solidFill>
                <a:latin typeface="Arial"/>
              </a:rPr>
              <a:t>Slide-over + free-ship + UPI/express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Learning from Zara &amp; 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 i="0" spc="-100">
                <a:solidFill>
                  <a:srgbClr val="2B2E2C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spc="-40">
                <a:solidFill>
                  <a:srgbClr val="FFFFFF"/>
                </a:solidFill>
                <a:latin typeface="Arial"/>
              </a:rPr>
              <a:t>The PDP Content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886200"/>
            <a:ext cx="64008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8CBC8"/>
                </a:solidFill>
                <a:latin typeface="Arial"/>
              </a:rPr>
              <a:t>Where naming, copy and content quietly erode trust, search and conversion — and the fixes.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91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PDP CONTENT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We name in codenames, not functions.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Across 14 PLPs, the same four naming faults recur — costing comprehension, search and trust.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5117439" cy="1261872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331720"/>
            <a:ext cx="54864" cy="1261872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47802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1817"/>
                </a:solidFill>
                <a:latin typeface="Arial"/>
              </a:rPr>
              <a:t>Internal codenames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4378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‘Key’ &amp; ‘Wing’ totes, ‘Ambit’/‘Meridian’ messengers, ‘Ellipse’ band, ‘Orbis’ crossbody — meaningless to a first-time or global shopper, and they win no search.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331720"/>
            <a:ext cx="5117439" cy="1261872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2331720"/>
            <a:ext cx="54864" cy="1261872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247802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1817"/>
                </a:solidFill>
                <a:latin typeface="Arial"/>
              </a:rPr>
              <a:t>Missing the head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284378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The Messenger/Laptop Bags page: not one SKU title contains ‘Laptop’. The iPhone 17 cases page serves the generic homepage &lt;title&gt;.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749039"/>
            <a:ext cx="5117439" cy="1261872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3749039"/>
            <a:ext cx="54864" cy="1261872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89534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1817"/>
                </a:solidFill>
                <a:latin typeface="Arial"/>
              </a:rPr>
              <a:t>Redundancy &amp; doublets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26110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‘Phone Case Cover’ stacks three type-words; ‘Covers &amp; Cases’; ‘Tote’ vs ‘Tote Bag’ — amateurish on a premium brand.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3749039"/>
            <a:ext cx="5117439" cy="1261872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3749039"/>
            <a:ext cx="54864" cy="1261872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0751" y="389534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1817"/>
                </a:solidFill>
                <a:latin typeface="Arial"/>
              </a:rPr>
              <a:t>One product, many names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426110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Brief Bags = Briefpack = Briefcase = ‘bask’ in the URL. ‘Band’ vs ‘Strap’. Breaks search, breadcrumbs and SEO consolidation.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Function-first titles + a spec/compatibility block let shoppers self-qualify fit — cutting hesitation, support tickets and returns, while capturing the head-terms we currently rank for but never match in copy.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PDP Content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PDP CONTENT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Before / after — premium clarity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One naming formula per category. Clarity over cleverness; preserve the minimal, premium tone.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B86E1E"/>
                </a:solidFill>
                <a:latin typeface="Arial"/>
              </a:rPr>
              <a:t>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40">
                <a:solidFill>
                  <a:srgbClr val="127A52"/>
                </a:solidFill>
                <a:latin typeface="Arial"/>
              </a:rPr>
              <a:t>RECOMMENDED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578608"/>
            <a:ext cx="10509199" cy="0"/>
          </a:xfrm>
          <a:prstGeom prst="bentConnector3">
            <a:avLst/>
          </a:prstGeom>
          <a:ln w="12700">
            <a:solidFill>
              <a:srgbClr val="1618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270662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6B6F6C"/>
                </a:solidFill>
                <a:latin typeface="Arial"/>
              </a:rPr>
              <a:t>Coral Stack Phone Case Cover for iPhone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4728" y="2871215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1817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70662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161817"/>
                </a:solidFill>
                <a:latin typeface="Arial"/>
              </a:rPr>
              <a:t>Coral Stack Case for iPhone 17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3236976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325526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6B6F6C"/>
                </a:solidFill>
                <a:latin typeface="Arial"/>
              </a:rPr>
              <a:t>Beige Pedal Daypack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728" y="341985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1817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325526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161817"/>
                </a:solidFill>
                <a:latin typeface="Arial"/>
              </a:rPr>
              <a:t>Pedal Commuter Backpack — Beige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3785616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80390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6B6F6C"/>
                </a:solidFill>
                <a:latin typeface="Arial"/>
              </a:rPr>
              <a:t>Pivot Meridian Convertible Briefpack — Lagoon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396849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1817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80390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161817"/>
                </a:solidFill>
                <a:latin typeface="Arial"/>
              </a:rPr>
              <a:t>Pivot Convertible Laptop Briefcase — Lagoon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4334256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435254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6B6F6C"/>
                </a:solidFill>
                <a:latin typeface="Arial"/>
              </a:rPr>
              <a:t>Walnut Ellipse Leather Apple Watch Band (…)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4728" y="451713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1817"/>
                </a:solidFill>
                <a:latin typeface="Arial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35254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161817"/>
                </a:solidFill>
                <a:latin typeface="Arial"/>
              </a:rPr>
              <a:t>Walnut Leather Apple Watch Strap (42–49mm)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" y="4882896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8" y="4901183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6B6F6C"/>
                </a:solidFill>
                <a:latin typeface="Arial"/>
              </a:rPr>
              <a:t>Loop Universal Aluminium Power Bank 10000 mAh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4728" y="5065775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1817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901183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161817"/>
                </a:solidFill>
                <a:latin typeface="Arial"/>
              </a:rPr>
              <a:t>Loop Wired Power Bank 10,000mAh (USB-C PD)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" y="5431536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1248" y="544982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6B6F6C"/>
                </a:solidFill>
                <a:latin typeface="Arial"/>
              </a:rPr>
              <a:t>SURGE 140W Kevlar Core Twin Port Type-C Cable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8" y="561441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1817"/>
                </a:solidFill>
                <a:latin typeface="Arial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544982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161817"/>
                </a:solidFill>
                <a:latin typeface="Arial"/>
              </a:rPr>
              <a:t>Surge 140W USB-C to USB-C Cable — Kevlar Core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DEEP DIVE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Complete SKU-level register — every issue tied to a live PDP URL, priority and recommended title — is available in the linked spreadsheet (PDP &amp; SKU Naming Audit). 22-step, owner-ready action list included.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PDP Content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PDP CONTENT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Content gaps that leak trust &amp;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Beyond naming, the body content has structural holes a premium brand can’t afford.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33323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331720"/>
            <a:ext cx="3332378" cy="64008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560320"/>
            <a:ext cx="294833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1817"/>
                </a:solidFill>
                <a:latin typeface="Arial"/>
              </a:rPr>
              <a:t>Specs &amp; compatibility 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310128"/>
            <a:ext cx="29300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6B6F6C"/>
                </a:solidFill>
                <a:latin typeface="Arial"/>
              </a:rPr>
              <a:t>PDP copy is lifestyle-only. The Loop power bank PDP is evocative (‘Transcending Hues’) but carries no capacity, ports, output, weight or device-fit. Shoppers can’t confirm fit before buying — a top driver of bounce and returns.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5029200"/>
            <a:ext cx="29300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1" i="0">
                <a:solidFill>
                  <a:srgbClr val="127A52"/>
                </a:solidFill>
                <a:latin typeface="Arial"/>
              </a:rPr>
              <a:t>Fix —  </a:t>
            </a:r>
            <a:r>
              <a:rPr sz="1030" b="0" i="0">
                <a:solidFill>
                  <a:srgbClr val="323533"/>
                </a:solidFill>
                <a:latin typeface="Arial"/>
              </a:rPr>
              <a:t>Add a structured spec block to every tech &amp; sizing-sensitive PDP.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9658" y="2331720"/>
            <a:ext cx="33323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9658" y="2331720"/>
            <a:ext cx="3332378" cy="64008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9114" y="2560320"/>
            <a:ext cx="294833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1817"/>
                </a:solidFill>
                <a:latin typeface="Arial"/>
              </a:rPr>
              <a:t>Factual &amp; legacy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9114" y="3310128"/>
            <a:ext cx="29300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6B6F6C"/>
                </a:solidFill>
                <a:latin typeface="Arial"/>
              </a:rPr>
              <a:t>The Duffle page body is largely about messenger bags; a wallet link labelled ‘Cider Brown’ resolves to a ‘Tan’ SKU; duffle links point to a dead category. Two copy vintages co-exist — modern vs dated, error-ridden.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9114" y="5029200"/>
            <a:ext cx="29300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1" i="0">
                <a:solidFill>
                  <a:srgbClr val="127A52"/>
                </a:solidFill>
                <a:latin typeface="Arial"/>
              </a:rPr>
              <a:t>Fix —  </a:t>
            </a:r>
            <a:r>
              <a:rPr sz="1030" b="0" i="0">
                <a:solidFill>
                  <a:srgbClr val="323533"/>
                </a:solidFill>
                <a:latin typeface="Arial"/>
              </a:rPr>
              <a:t>Rewrite legacy pages in the modern voice; fix mismatches &amp; dead links.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8068" y="2331720"/>
            <a:ext cx="333237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8068" y="2331720"/>
            <a:ext cx="3332378" cy="64008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7524" y="2560320"/>
            <a:ext cx="294833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1817"/>
                </a:solidFill>
                <a:latin typeface="Arial"/>
              </a:rPr>
              <a:t>SEO left on the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524" y="3310128"/>
            <a:ext cx="29300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6B6F6C"/>
                </a:solidFill>
                <a:latin typeface="Arial"/>
              </a:rPr>
              <a:t>Five charging ‘categories’ resolve to one canonical page — none can rank for ‘power bank’ vs ‘wireless charger’ vs ‘usb-c cable’. High-intent PLPs run homepage boilerplate meta.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7524" y="5029200"/>
            <a:ext cx="29300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1" i="0">
                <a:solidFill>
                  <a:srgbClr val="127A52"/>
                </a:solidFill>
                <a:latin typeface="Arial"/>
              </a:rPr>
              <a:t>Fix —  </a:t>
            </a:r>
            <a:r>
              <a:rPr sz="1030" b="0" i="0">
                <a:solidFill>
                  <a:srgbClr val="323533"/>
                </a:solidFill>
                <a:latin typeface="Arial"/>
              </a:rPr>
              <a:t>Split into rankable landing pages; unique title, meta &amp; intro each.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SO WHAT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On a premium brand, polish is the product. Removing doublets, fixing errors and adding proof lifts trust; splitting the charging page and writing real meta captures demand we currently forfeit.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PDP Content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 i="0" spc="-100">
                <a:solidFill>
                  <a:srgbClr val="2B2E2C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spc="-40">
                <a:solidFill>
                  <a:srgbClr val="FFFFFF"/>
                </a:solidFill>
                <a:latin typeface="Arial"/>
              </a:rPr>
              <a:t>Reimagining the PDP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886200"/>
            <a:ext cx="64008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8CBC8"/>
                </a:solidFill>
                <a:latin typeface="Arial"/>
              </a:rPr>
              <a:t>From a static spec block to a sequenced stage — desire, difference, reassurance,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91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REIMAGINING THE PDP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The ideal PDP — a module stack that sells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Sequence the page hook → story → proof → decision, the way Zara and On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40280"/>
            <a:ext cx="2286000" cy="3246120"/>
          </a:xfrm>
          <a:prstGeom prst="roundRect">
            <a:avLst>
              <a:gd name="adj" fmla="val 6000"/>
            </a:avLst>
          </a:prstGeom>
          <a:solidFill>
            <a:srgbClr val="F5F5F2"/>
          </a:solidFill>
          <a:ln w="12700">
            <a:solidFill>
              <a:srgbClr val="9A9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" y="2386584"/>
            <a:ext cx="1993392" cy="457200"/>
          </a:xfrm>
          <a:prstGeom prst="rect">
            <a:avLst/>
          </a:prstGeom>
          <a:solidFill>
            <a:srgbClr val="E8F2EC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86584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60">
                <a:solidFill>
                  <a:srgbClr val="0B4A34"/>
                </a:solidFill>
                <a:latin typeface="Arial"/>
              </a:rPr>
              <a:t>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2916936"/>
            <a:ext cx="1993392" cy="384048"/>
          </a:xfrm>
          <a:prstGeom prst="rect">
            <a:avLst/>
          </a:prstGeom>
          <a:solidFill>
            <a:srgbClr val="EDEEEA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916936"/>
            <a:ext cx="19933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60">
                <a:solidFill>
                  <a:srgbClr val="6B6F6C"/>
                </a:solidFill>
                <a:latin typeface="Arial"/>
              </a:rPr>
              <a:t>DECISION 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" y="3374136"/>
            <a:ext cx="199339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374136"/>
            <a:ext cx="19933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60">
                <a:solidFill>
                  <a:srgbClr val="6B6F6C"/>
                </a:solidFill>
                <a:latin typeface="Arial"/>
              </a:rPr>
              <a:t>WHY DIFFERENT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" y="3950208"/>
            <a:ext cx="199339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950208"/>
            <a:ext cx="19933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60">
                <a:solidFill>
                  <a:srgbClr val="6B6F6C"/>
                </a:solidFill>
                <a:latin typeface="Arial"/>
              </a:rPr>
              <a:t>IN YOUR LIFE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" y="4526280"/>
            <a:ext cx="19933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526280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60">
                <a:solidFill>
                  <a:srgbClr val="6B6F6C"/>
                </a:solidFill>
                <a:latin typeface="Arial"/>
              </a:rPr>
              <a:t>REASONS TO BELIEVE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" y="5056632"/>
            <a:ext cx="199339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056632"/>
            <a:ext cx="19933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60">
                <a:solidFill>
                  <a:srgbClr val="6B6F6C"/>
                </a:solidFill>
                <a:latin typeface="Arial"/>
              </a:rPr>
              <a:t>COMPLETE THE SET</a:t>
            </a:r>
          </a:p>
        </p:txBody>
      </p:sp>
      <p:sp>
        <p:nvSpPr>
          <p:cNvPr id="19" name="Oval 18"/>
          <p:cNvSpPr/>
          <p:nvPr/>
        </p:nvSpPr>
        <p:spPr>
          <a:xfrm>
            <a:off x="3584448" y="2286000"/>
            <a:ext cx="310896" cy="31089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224942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Hero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249424"/>
            <a:ext cx="5114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Full-width lifestyle imagery — never a white-cutout carousel. Sets desire in the first frame.</a:t>
            </a:r>
          </a:p>
        </p:txBody>
      </p:sp>
      <p:sp>
        <p:nvSpPr>
          <p:cNvPr id="22" name="Oval 21"/>
          <p:cNvSpPr/>
          <p:nvPr/>
        </p:nvSpPr>
        <p:spPr>
          <a:xfrm>
            <a:off x="3584448" y="2834640"/>
            <a:ext cx="310896" cy="31089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279806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Decision bar (sticky)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798064"/>
            <a:ext cx="5114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Price + savings, variant &amp; compatibility selector, one dominant CTA — follows the scroll.</a:t>
            </a:r>
          </a:p>
        </p:txBody>
      </p:sp>
      <p:sp>
        <p:nvSpPr>
          <p:cNvPr id="25" name="Oval 24"/>
          <p:cNvSpPr/>
          <p:nvPr/>
        </p:nvSpPr>
        <p:spPr>
          <a:xfrm>
            <a:off x="3584448" y="3383280"/>
            <a:ext cx="310896" cy="31089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334670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Why it’s different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3346704"/>
            <a:ext cx="5114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Annotated feature callouts + a short demo loop. Show the difference, don’t claim it.</a:t>
            </a:r>
          </a:p>
        </p:txBody>
      </p:sp>
      <p:sp>
        <p:nvSpPr>
          <p:cNvPr id="28" name="Oval 27"/>
          <p:cNvSpPr/>
          <p:nvPr/>
        </p:nvSpPr>
        <p:spPr>
          <a:xfrm>
            <a:off x="3584448" y="3931920"/>
            <a:ext cx="310896" cy="31089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389534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In your life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3895344"/>
            <a:ext cx="5114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Lifestyle gallery — the product in travel, on the desk, in daily carry.</a:t>
            </a:r>
          </a:p>
        </p:txBody>
      </p:sp>
      <p:sp>
        <p:nvSpPr>
          <p:cNvPr id="31" name="Oval 30"/>
          <p:cNvSpPr/>
          <p:nvPr/>
        </p:nvSpPr>
        <p:spPr>
          <a:xfrm>
            <a:off x="3584448" y="4480560"/>
            <a:ext cx="310896" cy="31089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444398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Reasons to believe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4443984"/>
            <a:ext cx="5114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Reviews-with-photos, materials, artisans, awards, warranty &amp; returns — beside the decision.</a:t>
            </a:r>
          </a:p>
        </p:txBody>
      </p:sp>
      <p:sp>
        <p:nvSpPr>
          <p:cNvPr id="34" name="Oval 33"/>
          <p:cNvSpPr/>
          <p:nvPr/>
        </p:nvSpPr>
        <p:spPr>
          <a:xfrm>
            <a:off x="3584448" y="5029200"/>
            <a:ext cx="310896" cy="31089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1648" y="499262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Complete the 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4992624"/>
            <a:ext cx="5114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Ecosystem cross-sell — ‘build your setup’ — at peak intent. Sell the Stack, not the SKU.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THE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Our PDP today answers mostly ‘why is it worth it?’ — via specs. The sequence gap (desire → difference → reassurance) is the single biggest AOV lever in this audit.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Reimagining the PDP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REIMAGINING THE PDP  · 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The gallery is the buying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For ~80% of buyers the carousel IS the PDP. A fixed 7-frame sequence — every frame removes one hesitation.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1360235" cy="1508760"/>
          </a:xfrm>
          <a:prstGeom prst="rect">
            <a:avLst/>
          </a:prstGeom>
          <a:solidFill>
            <a:srgbClr val="F5F5F2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69748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 spc="-50">
                <a:solidFill>
                  <a:srgbClr val="127A52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3950208"/>
            <a:ext cx="1085915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11480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00" b="1" i="0">
                <a:solidFill>
                  <a:srgbClr val="161817"/>
                </a:solidFill>
                <a:latin typeface="Arial"/>
              </a:rPr>
              <a:t>Lifestyle 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17720"/>
            <a:ext cx="13602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6B6F6C"/>
                </a:solidFill>
                <a:latin typeface="Arial"/>
              </a:rPr>
              <a:t>In use, in context — sets desire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6075" y="2331720"/>
            <a:ext cx="1360235" cy="1508760"/>
          </a:xfrm>
          <a:prstGeom prst="rect">
            <a:avLst/>
          </a:prstGeom>
          <a:solidFill>
            <a:srgbClr val="F5F5F2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6075" y="269748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 spc="-50">
                <a:solidFill>
                  <a:srgbClr val="127A52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3235" y="3950208"/>
            <a:ext cx="1085915" cy="45720"/>
          </a:xfrm>
          <a:prstGeom prst="rect">
            <a:avLst/>
          </a:prstGeom>
          <a:solidFill>
            <a:srgbClr val="DD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66075" y="411480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00" b="1" i="0">
                <a:solidFill>
                  <a:srgbClr val="161817"/>
                </a:solidFill>
                <a:latin typeface="Arial"/>
              </a:rPr>
              <a:t>Headline USP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6075" y="4617720"/>
            <a:ext cx="13602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6B6F6C"/>
                </a:solidFill>
                <a:latin typeface="Arial"/>
              </a:rPr>
              <a:t>One sharp, JTBD claim, large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90902" y="2331720"/>
            <a:ext cx="1360235" cy="1508760"/>
          </a:xfrm>
          <a:prstGeom prst="rect">
            <a:avLst/>
          </a:prstGeom>
          <a:solidFill>
            <a:srgbClr val="F5F5F2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90902" y="269748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 spc="-50">
                <a:solidFill>
                  <a:srgbClr val="127A52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8062" y="3950208"/>
            <a:ext cx="1085915" cy="45720"/>
          </a:xfrm>
          <a:prstGeom prst="rect">
            <a:avLst/>
          </a:prstGeom>
          <a:solidFill>
            <a:srgbClr val="DD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90902" y="411480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00" b="1" i="0">
                <a:solidFill>
                  <a:srgbClr val="161817"/>
                </a:solidFill>
                <a:latin typeface="Arial"/>
              </a:rPr>
              <a:t>Proof /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0902" y="4617720"/>
            <a:ext cx="13602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6B6F6C"/>
                </a:solidFill>
                <a:latin typeface="Arial"/>
              </a:rPr>
              <a:t>Anchored numbers vs alternatives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5729" y="2331720"/>
            <a:ext cx="1360235" cy="1508760"/>
          </a:xfrm>
          <a:prstGeom prst="rect">
            <a:avLst/>
          </a:prstGeom>
          <a:solidFill>
            <a:srgbClr val="F5F5F2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5729" y="269748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 spc="-50">
                <a:solidFill>
                  <a:srgbClr val="127A52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2889" y="3950208"/>
            <a:ext cx="1085915" cy="45720"/>
          </a:xfrm>
          <a:prstGeom prst="rect">
            <a:avLst/>
          </a:prstGeom>
          <a:solidFill>
            <a:srgbClr val="DD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5729" y="411480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00" b="1" i="0">
                <a:solidFill>
                  <a:srgbClr val="161817"/>
                </a:solidFill>
                <a:latin typeface="Arial"/>
              </a:rPr>
              <a:t>Key features ×3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5729" y="4617720"/>
            <a:ext cx="13602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6B6F6C"/>
                </a:solidFill>
                <a:latin typeface="Arial"/>
              </a:rPr>
              <a:t>Iconified callouts, not paragraphs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0557" y="2331720"/>
            <a:ext cx="1360235" cy="1508760"/>
          </a:xfrm>
          <a:prstGeom prst="rect">
            <a:avLst/>
          </a:prstGeom>
          <a:solidFill>
            <a:srgbClr val="F5F5F2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0557" y="269748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 spc="-50">
                <a:solidFill>
                  <a:srgbClr val="127A52"/>
                </a:solidFill>
                <a:latin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77717" y="3950208"/>
            <a:ext cx="1085915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0557" y="411480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00" b="1" i="0">
                <a:solidFill>
                  <a:srgbClr val="161817"/>
                </a:solidFill>
                <a:latin typeface="Arial"/>
              </a:rPr>
              <a:t>Sizing /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0557" y="4617720"/>
            <a:ext cx="13602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6B6F6C"/>
                </a:solidFill>
                <a:latin typeface="Arial"/>
              </a:rPr>
              <a:t>On a 5'4" &amp; 6' model; vs hand/phone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65384" y="2331720"/>
            <a:ext cx="1360235" cy="1508760"/>
          </a:xfrm>
          <a:prstGeom prst="rect">
            <a:avLst/>
          </a:prstGeom>
          <a:solidFill>
            <a:srgbClr val="F5F5F2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65384" y="269748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 spc="-50">
                <a:solidFill>
                  <a:srgbClr val="127A52"/>
                </a:solidFill>
                <a:latin typeface="Arial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02544" y="3950208"/>
            <a:ext cx="1085915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5384" y="411480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00" b="1" i="0">
                <a:solidFill>
                  <a:srgbClr val="161817"/>
                </a:solidFill>
                <a:latin typeface="Arial"/>
              </a:rPr>
              <a:t>What’s inside / in 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5384" y="4617720"/>
            <a:ext cx="13602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6B6F6C"/>
                </a:solidFill>
                <a:latin typeface="Arial"/>
              </a:rPr>
              <a:t>Compartments &amp; devices, populated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90211" y="2331720"/>
            <a:ext cx="1360235" cy="1508760"/>
          </a:xfrm>
          <a:prstGeom prst="rect">
            <a:avLst/>
          </a:prstGeom>
          <a:solidFill>
            <a:srgbClr val="F5F5F2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90211" y="269748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 spc="-50">
                <a:solidFill>
                  <a:srgbClr val="127A52"/>
                </a:solidFill>
                <a:latin typeface="Arial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27371" y="3950208"/>
            <a:ext cx="1085915" cy="45720"/>
          </a:xfrm>
          <a:prstGeom prst="rect">
            <a:avLst/>
          </a:prstGeom>
          <a:solidFill>
            <a:srgbClr val="DD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90211" y="4114800"/>
            <a:ext cx="13602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00" b="1" i="0">
                <a:solidFill>
                  <a:srgbClr val="161817"/>
                </a:solidFill>
                <a:latin typeface="Arial"/>
              </a:rPr>
              <a:t>Specs + 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0211" y="4617720"/>
            <a:ext cx="13602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60" b="0" i="0">
                <a:solidFill>
                  <a:srgbClr val="6B6F6C"/>
                </a:solidFill>
                <a:latin typeface="Arial"/>
              </a:rPr>
              <a:t>Dimensions, materials, warranty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534924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27A52"/>
                </a:solidFill>
                <a:latin typeface="Arial"/>
              </a:rPr>
              <a:t>■ </a:t>
            </a:r>
            <a:r>
              <a:rPr sz="1050" b="1" i="0">
                <a:solidFill>
                  <a:srgbClr val="0B4A34"/>
                </a:solidFill>
                <a:latin typeface="Arial"/>
              </a:rPr>
              <a:t>~50% of frames should be motion</a:t>
            </a:r>
            <a:r>
              <a:rPr sz="1050" b="0" i="0">
                <a:solidFill>
                  <a:srgbClr val="6B6F6C"/>
                </a:solidFill>
                <a:latin typeface="Arial"/>
              </a:rPr>
              <a:t>  — hero in motion, product-in-use, a material clip. A sizing frame on every bag is non-negotiable.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THE MOVE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Retire the 12–15 frame photo dump for one fixed structure across the catalogue, with overlay infographic callouts. Executing half the P0/P1 backlog should lift blended PDP→ATC by 1.5–3pp.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Reimagining the PDP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REIMAGINING THE PDP  · 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How product imagery should evolve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From white-cutout catalogue shots to one art-directed, premium sequence.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286000"/>
            <a:ext cx="2462707" cy="8229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587752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Image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82112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1817"/>
                </a:solidFill>
                <a:latin typeface="Arial"/>
              </a:rPr>
              <a:t>Hero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38144"/>
            <a:ext cx="24627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F6C"/>
                </a:solidFill>
                <a:latin typeface="Arial"/>
              </a:rPr>
              <a:t>Editorial, in-context — the product lived-in, not floating on white.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3411" y="2286000"/>
            <a:ext cx="2462707" cy="8229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3411" y="2587752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Image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3411" y="3182112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1817"/>
                </a:solidFill>
                <a:latin typeface="Arial"/>
              </a:rPr>
              <a:t>Lifestyle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3411" y="3438144"/>
            <a:ext cx="24627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F6C"/>
                </a:solidFill>
                <a:latin typeface="Arial"/>
              </a:rPr>
              <a:t>The product in its world — travel, desk, daily carry.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575" y="2286000"/>
            <a:ext cx="2462707" cy="8229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5575" y="2587752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Image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575" y="3182112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1817"/>
                </a:solidFill>
                <a:latin typeface="Arial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5575" y="3438144"/>
            <a:ext cx="24627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F6C"/>
                </a:solidFill>
                <a:latin typeface="Arial"/>
              </a:rPr>
              <a:t>Human reference — on a model, beside a phone, hand or mug.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7739" y="2286000"/>
            <a:ext cx="2462707" cy="8229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739" y="2587752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Image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739" y="3182112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1817"/>
                </a:solidFill>
                <a:latin typeface="Arial"/>
              </a:rPr>
              <a:t>Material close-up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739" y="3438144"/>
            <a:ext cx="24627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F6C"/>
                </a:solidFill>
                <a:latin typeface="Arial"/>
              </a:rPr>
              <a:t>Texture, grain, finish — tactile proof of craftsmanship.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3858768"/>
            <a:ext cx="2462707" cy="8229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160520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Image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754879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1817"/>
                </a:solidFill>
                <a:latin typeface="Arial"/>
              </a:rPr>
              <a:t>In-use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010912"/>
            <a:ext cx="24627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F6C"/>
                </a:solidFill>
                <a:latin typeface="Arial"/>
              </a:rPr>
              <a:t>Compartments populated; chargers with real devices.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3411" y="3858768"/>
            <a:ext cx="2462707" cy="8229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3411" y="4160520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Image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3411" y="4754879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1817"/>
                </a:solidFill>
                <a:latin typeface="Arial"/>
              </a:rPr>
              <a:t>Compatibility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3411" y="5010912"/>
            <a:ext cx="24627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F6C"/>
                </a:solidFill>
                <a:latin typeface="Arial"/>
              </a:rPr>
              <a:t>Visual fit cues — ‘fits 16" laptop’, ‘iPhone 12–17’.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5575" y="3858768"/>
            <a:ext cx="2462707" cy="8229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5575" y="4160520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Image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5575" y="4754879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1817"/>
                </a:solidFill>
                <a:latin typeface="Arial"/>
              </a:rPr>
              <a:t>Feature callouts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5575" y="5010912"/>
            <a:ext cx="24627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F6C"/>
                </a:solidFill>
                <a:latin typeface="Arial"/>
              </a:rPr>
              <a:t>On-image infographics — benefit, material, how &amp; why.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739" y="3858768"/>
            <a:ext cx="2462707" cy="82296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87739" y="4160520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>[ Image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739" y="4754879"/>
            <a:ext cx="24627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1817"/>
                </a:solidFill>
                <a:latin typeface="Arial"/>
              </a:rPr>
              <a:t>Premium sequencing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739" y="5010912"/>
            <a:ext cx="24627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F6C"/>
                </a:solidFill>
                <a:latin typeface="Arial"/>
              </a:rPr>
              <a:t>One light, angle, palette across every SKU — brand, not catalogue.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ELEVATE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Add a ‘world around the product’ block below the gallery — full-width video, collection story, the reason the product exists. This is what converts a ‘₹1,499 phone case’ into a designed object worth the price.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Reimagining the PDP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REIMAGINING THE PDP  · 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Wire the beauty to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Adopt the feeling of Zara and On — then layer in the explicit mechanics our mobile-first buyer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5029200" cy="320040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5054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161817"/>
                </a:solidFill>
                <a:latin typeface="Arial"/>
              </a:rPr>
              <a:t>ABOVE THE FOLD — THE DECISION IN 5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907792"/>
            <a:ext cx="4526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Title + USP strapline; price + ‘you save ₹X’ + EMI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Rating &amp; review count by the title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In-stock variant &amp; compatibility selectors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One dominant CTA — not three competing buttons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Delivery &amp; returns strip — kills 3 of the top-5 exit reasons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Sticky ATC bar with mini-preview (+5–12% mobile ATC)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2331720"/>
            <a:ext cx="5205679" cy="3200400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5054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0B4A34"/>
                </a:solidFill>
                <a:latin typeface="Arial"/>
              </a:rPr>
              <a:t>AOV MOMENTS ON THE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9260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61817"/>
                </a:solidFill>
                <a:latin typeface="Arial"/>
              </a:rPr>
              <a:t>Frequently bought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8847" y="29260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27A52"/>
                </a:solidFill>
                <a:latin typeface="Arial"/>
              </a:rPr>
              <a:t>+8–15%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19088" y="3438144"/>
            <a:ext cx="4657039" cy="0"/>
          </a:xfrm>
          <a:prstGeom prst="bentConnector3">
            <a:avLst/>
          </a:prstGeom>
          <a:ln w="9525">
            <a:solidFill>
              <a:srgbClr val="CFE3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19088" y="349300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61817"/>
                </a:solidFill>
                <a:latin typeface="Arial"/>
              </a:rPr>
              <a:t>Build-the-system cross-sell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8847" y="34930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27A52"/>
                </a:solidFill>
                <a:latin typeface="Arial"/>
              </a:rPr>
              <a:t>+5–10%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9088" y="4005072"/>
            <a:ext cx="4657039" cy="0"/>
          </a:xfrm>
          <a:prstGeom prst="bentConnector3">
            <a:avLst/>
          </a:prstGeom>
          <a:ln w="9525">
            <a:solidFill>
              <a:srgbClr val="CFE3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9088" y="4059936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61817"/>
                </a:solidFill>
                <a:latin typeface="Arial"/>
              </a:rPr>
              <a:t>Free-shipping progress nudge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8847" y="4059936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27A52"/>
                </a:solidFill>
                <a:latin typeface="Arial"/>
              </a:rPr>
              <a:t>+6–9%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19088" y="4572000"/>
            <a:ext cx="4657039" cy="0"/>
          </a:xfrm>
          <a:prstGeom prst="bentConnector3">
            <a:avLst/>
          </a:prstGeom>
          <a:ln w="9525">
            <a:solidFill>
              <a:srgbClr val="CFE3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19088" y="4626864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61817"/>
                </a:solidFill>
                <a:latin typeface="Arial"/>
              </a:rPr>
              <a:t>Buy-the-look / style-with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8847" y="4626864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27A52"/>
                </a:solidFill>
                <a:latin typeface="Arial"/>
              </a:rPr>
              <a:t>+4–8%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Ship order — P0: 7-frame carousel, bag sizing frame, sticky mobile ATC. P1: reviews-with-photos above the fold, trust strip, FBT + free-ship nudge. P2: UGC &amp; inline Q&amp;A.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Reimagining the PDP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 i="0" spc="-100">
                <a:solidFill>
                  <a:srgbClr val="2B2E2C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spc="-40">
                <a:solidFill>
                  <a:srgbClr val="FFFFFF"/>
                </a:solidFill>
                <a:latin typeface="Arial"/>
              </a:rPr>
              <a:t>The PLP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886200"/>
            <a:ext cx="64008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8CBC8"/>
                </a:solidFill>
                <a:latin typeface="Arial"/>
              </a:rPr>
              <a:t>Why our category grids feel crowded — and how parent-child curation makes them feel premium.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91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PLP AUDIT  ·  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From 40 tiles to 8 — curated, not crowded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Every colour, size and device variant is its own tile today. The grid exposes our warehouse to the customer.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402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80">
                <a:solidFill>
                  <a:srgbClr val="B86E1E"/>
                </a:solidFill>
                <a:latin typeface="Arial"/>
              </a:rPr>
              <a:t>CURRENT  —  variant explosion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06040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9344" y="2606040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2606040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45536" y="2606040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3632" y="2606040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81728" y="2606040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3172968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9344" y="3172968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0" y="3172968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45536" y="3172968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13632" y="3172968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3172968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3739896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9344" y="3739896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77440" y="3739896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45536" y="3739896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13632" y="3739896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81728" y="3739896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" y="4306824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9344" y="4306824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0" y="4306824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45536" y="4306824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13632" y="4306824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81728" y="4306824"/>
            <a:ext cx="676656" cy="475488"/>
          </a:xfrm>
          <a:prstGeom prst="rect">
            <a:avLst/>
          </a:prstGeom>
          <a:solidFill>
            <a:srgbClr val="F5F5F2"/>
          </a:solidFill>
          <a:ln w="6350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983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Same tote in 4 colours = 4 tiles. A 6-product range becomes 24. Scroll depth on mobile up 4×.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33832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27A52"/>
                </a:solidFill>
                <a:latin typeface="Arial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2240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80">
                <a:solidFill>
                  <a:srgbClr val="127A52"/>
                </a:solidFill>
                <a:latin typeface="Arial"/>
              </a:rPr>
              <a:t>RECOMMENDED  —  parent cards + swatches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2606040"/>
            <a:ext cx="1005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83680" y="3355848"/>
            <a:ext cx="91440" cy="91440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29984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76288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22592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44383" y="2606040"/>
            <a:ext cx="1005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17536" y="3355848"/>
            <a:ext cx="91440" cy="91440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63840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10144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56448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78240" y="2606040"/>
            <a:ext cx="1005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51392" y="3355848"/>
            <a:ext cx="91440" cy="91440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997696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44000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90304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912096" y="2606040"/>
            <a:ext cx="1005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85248" y="3355848"/>
            <a:ext cx="91440" cy="91440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131552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77856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24160" y="3355848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10528" y="3685032"/>
            <a:ext cx="1005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83680" y="4434840"/>
            <a:ext cx="91440" cy="91440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729984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876288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022592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44383" y="3685032"/>
            <a:ext cx="1005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17536" y="4434840"/>
            <a:ext cx="91440" cy="91440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63840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10144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56448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78240" y="3685032"/>
            <a:ext cx="1005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851392" y="4434840"/>
            <a:ext cx="91440" cy="91440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997696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144000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290304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12096" y="3685032"/>
            <a:ext cx="1005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985248" y="4434840"/>
            <a:ext cx="91440" cy="91440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31552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277856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424160" y="4434840"/>
            <a:ext cx="91440" cy="91440"/>
          </a:xfrm>
          <a:prstGeom prst="ellipse">
            <a:avLst/>
          </a:prstGeom>
          <a:solidFill>
            <a:srgbClr val="ED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10528" y="4983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One ‘Skipper Sleeve’ card with colour swatches + size selector. Grid noise down 40–60%.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IMPACT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Variant rollup is the highest-ROI change across PLP and Search at once: +25–40% scroll completion, 15–25% better product discovery — and cleaner ranking &amp; SEO. Keep variant URLs via canonical tags.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PLP Audit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PLP AUDIT  ·  THE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The ideal product card &amp;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Image-led, spec-smart, scannable — with the filters customers actually decide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286000"/>
            <a:ext cx="3200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286000"/>
            <a:ext cx="3200400" cy="182880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43230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BESTSELLER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4448" y="2432304"/>
            <a:ext cx="31089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1817"/>
                </a:solidFill>
                <a:latin typeface="Arial"/>
              </a:rPr>
              <a:t>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 spc="100">
                <a:solidFill>
                  <a:srgbClr val="9A9E9B"/>
                </a:solidFill>
                <a:latin typeface="Arial"/>
              </a:rPr>
              <a:t>PRODUCT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83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9A9E9B"/>
                </a:solidFill>
                <a:latin typeface="Arial"/>
              </a:rPr>
              <a:t>hover → lifestyle angle</a:t>
            </a:r>
          </a:p>
        </p:txBody>
      </p:sp>
      <p:sp>
        <p:nvSpPr>
          <p:cNvPr id="12" name="Oval 11"/>
          <p:cNvSpPr/>
          <p:nvPr/>
        </p:nvSpPr>
        <p:spPr>
          <a:xfrm>
            <a:off x="3493008" y="3703320"/>
            <a:ext cx="310896" cy="310896"/>
          </a:xfrm>
          <a:prstGeom prst="ellipse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24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1817"/>
                </a:solidFill>
                <a:latin typeface="Arial"/>
              </a:rPr>
              <a:t>Structured Leather Tote — Earthen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988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F6C"/>
                </a:solidFill>
                <a:latin typeface="Arial"/>
              </a:rPr>
              <a:t>Fits 15" laptop · Pebbled leather · 18L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773168"/>
            <a:ext cx="137160" cy="137160"/>
          </a:xfrm>
          <a:prstGeom prst="ellipse">
            <a:avLst/>
          </a:prstGeom>
          <a:solidFill>
            <a:srgbClr val="161817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07008" y="4773168"/>
            <a:ext cx="137160" cy="137160"/>
          </a:xfrm>
          <a:prstGeom prst="ellipse">
            <a:avLst/>
          </a:prstGeom>
          <a:solidFill>
            <a:srgbClr val="B86E1E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08176" y="4773168"/>
            <a:ext cx="137160" cy="137160"/>
          </a:xfrm>
          <a:prstGeom prst="ellipse">
            <a:avLst/>
          </a:prstGeom>
          <a:solidFill>
            <a:srgbClr val="127A52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09344" y="4773168"/>
            <a:ext cx="137160" cy="137160"/>
          </a:xfrm>
          <a:prstGeom prst="ellipse">
            <a:avLst/>
          </a:prstGeom>
          <a:solidFill>
            <a:srgbClr val="9A9E9B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10512" y="4773168"/>
            <a:ext cx="137160" cy="137160"/>
          </a:xfrm>
          <a:prstGeom prst="ellipse">
            <a:avLst/>
          </a:prstGeom>
          <a:solidFill>
            <a:srgbClr val="EDEEEA"/>
          </a:solidFill>
          <a:ln w="9525">
            <a:solidFill>
              <a:srgbClr val="DD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12848" y="474573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F6C"/>
                </a:solidFill>
                <a:latin typeface="Arial"/>
              </a:rPr>
              <a:t>+2 colours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7A52"/>
                </a:solidFill>
                <a:latin typeface="Arial"/>
              </a:rPr>
              <a:t>★★★★☆ </a:t>
            </a:r>
            <a:r>
              <a:rPr sz="900" b="0" i="0">
                <a:solidFill>
                  <a:srgbClr val="6B6F6C"/>
                </a:solidFill>
                <a:latin typeface="Arial"/>
              </a:rPr>
              <a:t>(4.3) · 128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2871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61817"/>
                </a:solidFill>
                <a:latin typeface="Arial"/>
              </a:rPr>
              <a:t>₹2,499  </a:t>
            </a:r>
            <a:r>
              <a:rPr sz="900" b="0" i="0">
                <a:solidFill>
                  <a:srgbClr val="9A9E9B"/>
                </a:solidFill>
                <a:latin typeface="Arial"/>
              </a:rPr>
              <a:t>₹2,999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2331720"/>
            <a:ext cx="6805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1" i="0">
                <a:solidFill>
                  <a:srgbClr val="161817"/>
                </a:solidFill>
                <a:latin typeface="Arial"/>
              </a:rPr>
              <a:t>Use-case chips below H1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‘Work · Travel · Gifting · New’ — intent-matching, sticky on scroll.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1" i="0">
                <a:solidFill>
                  <a:srgbClr val="161817"/>
                </a:solidFill>
                <a:latin typeface="Arial"/>
              </a:rPr>
              <a:t>Device model selector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A persistent chip row — switch iPhone/Watch models without leaving the page.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1" i="0">
                <a:solidFill>
                  <a:srgbClr val="161817"/>
                </a:solidFill>
                <a:latin typeface="Arial"/>
              </a:rPr>
              <a:t>Must-have filters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Capacity, laptop-fit, material, wattage, charging standard — the axes people decide on.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1" i="0">
                <a:solidFill>
                  <a:srgbClr val="161817"/>
                </a:solidFill>
                <a:latin typeface="Arial"/>
              </a:rPr>
              <a:t>Key spec line on every card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‘10,000mAh · 22.5W · USB-C+USB-A’ — compare without opening a single PDP.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</a:pPr>
            <a:r>
              <a:rPr sz="1100" b="1" i="0">
                <a:solidFill>
                  <a:srgbClr val="127A52"/>
                </a:solidFill>
                <a:latin typeface="Arial"/>
              </a:rPr>
              <a:t>—  </a:t>
            </a:r>
            <a:r>
              <a:rPr sz="1100" b="1" i="0">
                <a:solidFill>
                  <a:srgbClr val="161817"/>
                </a:solidFill>
                <a:latin typeface="Arial"/>
              </a:rPr>
              <a:t>H1 + intro + FAQ schema  </a:t>
            </a:r>
            <a:r>
              <a:rPr sz="1100" b="0" i="0">
                <a:solidFill>
                  <a:srgbClr val="323533"/>
                </a:solidFill>
                <a:latin typeface="Arial"/>
              </a:rPr>
              <a:t>Customer-language H1, 80–120w intro, 5–8 FAQs — long-tail organic on every page.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QUICK WINS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Quick wins ship in 1–2 weeks — messenger-bag URL fix, customer-facing filter labels, H1 + intro + FAQ, MagSafe &amp; Bestseller badges, title reformatting. The structural SKU rollup is the medium-term prize.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PLP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 i="0" spc="-100">
                <a:solidFill>
                  <a:srgbClr val="2B2E2C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spc="-40">
                <a:solidFill>
                  <a:srgbClr val="FFFFFF"/>
                </a:solidFill>
                <a:latin typeface="Arial"/>
              </a:rPr>
              <a:t>Category Hierarchy &amp; Taxonomy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886200"/>
            <a:ext cx="64008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8CBC8"/>
                </a:solidFill>
                <a:latin typeface="Arial"/>
              </a:rPr>
              <a:t>Stop navigating by the warehouse. Six confident doors, two lenses, one canonical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91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TAXONOMY  · 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Organised by the warehouse, not the shopper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Top-level nav mixes product types, ecosystems, merchandising labels and internal codenames — a first-timer can’t predict what lives behind each label.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77440"/>
            <a:ext cx="5117439" cy="1298448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377440"/>
            <a:ext cx="54864" cy="1298448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52374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1817"/>
                </a:solidFill>
                <a:latin typeface="Arial"/>
              </a:rPr>
              <a:t>Apples &amp; oranges in one nav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8950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Bags, Shop by Apple, Work Essentials and internal collection names sit as peers. A first-timer can’t predict what lives behind each label.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377440"/>
            <a:ext cx="5117439" cy="1298448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2377440"/>
            <a:ext cx="54864" cy="1298448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252374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1817"/>
                </a:solidFill>
                <a:latin typeface="Arial"/>
              </a:rPr>
              <a:t>Phone Cases is a monolith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288950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One node carries 60%+ of the catalogue as a peer to tiny nodes like Wallets. The architecture treats unequal things as equal.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840480"/>
            <a:ext cx="5117439" cy="1298448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3840480"/>
            <a:ext cx="54864" cy="1298448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98678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1817"/>
                </a:solidFill>
                <a:latin typeface="Arial"/>
              </a:rPr>
              <a:t>Codenames as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35254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‘Hugster’, ‘Carry’, ‘SuperPro’, ‘Stride’ mean nothing to a new or global customer — and cannibalise generic SEO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3840480"/>
            <a:ext cx="5117439" cy="1298448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3840480"/>
            <a:ext cx="54864" cy="1298448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0751" y="398678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1817"/>
                </a:solidFill>
                <a:latin typeface="Arial"/>
              </a:rPr>
              <a:t>No intent or ecosystem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435254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Charging is fragmented across parents; there is no true Device or Use-Case spine — only occasional banners.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SO 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Premium peers lead with mission — Apple by device, Bellroy by use-case, IKEA by room. DailyObjects leads with SKU dumps. Navigation should be merchandising, not a directory.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Taxonomy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TAXONOMY  ·  THE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Six doors. Two lenses. One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Category owns the URL, H1 and breadcrumb. Device and Use-Case are curated lenses that link in — never duplicating the catalogue.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1599133" cy="566928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 spc="40">
                <a:solidFill>
                  <a:srgbClr val="FFFFFF"/>
                </a:solidFill>
                <a:latin typeface="Arial"/>
              </a:rPr>
              <a:t>BAGS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3261" y="2331720"/>
            <a:ext cx="1599133" cy="566928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 spc="40">
                <a:solidFill>
                  <a:srgbClr val="FFFFFF"/>
                </a:solidFill>
                <a:latin typeface="Arial"/>
              </a:rPr>
              <a:t>PHONE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5274" y="2331720"/>
            <a:ext cx="1599133" cy="566928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 spc="40">
                <a:solidFill>
                  <a:srgbClr val="FFFFFF"/>
                </a:solidFill>
                <a:latin typeface="Arial"/>
              </a:rPr>
              <a:t>CHARGING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287" y="2331720"/>
            <a:ext cx="1599133" cy="566928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 spc="40">
                <a:solidFill>
                  <a:srgbClr val="FFFFFF"/>
                </a:solidFill>
                <a:latin typeface="Arial"/>
              </a:rPr>
              <a:t>DESK &amp;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9300" y="2331720"/>
            <a:ext cx="1599133" cy="566928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 spc="40">
                <a:solidFill>
                  <a:srgbClr val="FFFFFF"/>
                </a:solidFill>
                <a:latin typeface="Arial"/>
              </a:rPr>
              <a:t>WALLETS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51314" y="2331720"/>
            <a:ext cx="1599133" cy="566928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 spc="40">
                <a:solidFill>
                  <a:srgbClr val="FFFFFF"/>
                </a:solidFill>
                <a:latin typeface="Arial"/>
              </a:rPr>
              <a:t>ACCESSORIES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127248"/>
            <a:ext cx="3928719" cy="56692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 spc="40">
                <a:solidFill>
                  <a:srgbClr val="FFFFFF"/>
                </a:solidFill>
                <a:latin typeface="Arial"/>
              </a:rPr>
              <a:t>SHOP BY DEVICE  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127248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6B6F6C"/>
                </a:solidFill>
                <a:latin typeface="Arial"/>
              </a:rPr>
              <a:t>iPhone · iPad · Mac · Watch · AirPods · Galaxy · Pixel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3127248"/>
            <a:ext cx="3928719" cy="56692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 spc="40">
                <a:solidFill>
                  <a:srgbClr val="FFFFFF"/>
                </a:solidFill>
                <a:latin typeface="Arial"/>
              </a:rPr>
              <a:t>SHOP BY USE-CASE  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887" y="3127248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 i="0">
                <a:solidFill>
                  <a:srgbClr val="6B6F6C"/>
                </a:solidFill>
                <a:latin typeface="Arial"/>
              </a:rPr>
              <a:t>Travel · Office · WFH · Desk Setup · EDC · Gifting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977639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6B6F6C"/>
                </a:solidFill>
                <a:latin typeface="Arial"/>
              </a:rPr>
              <a:t>THE GOVERNING IDEA — THREE WAYS CUSTOMERS ARRIVE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4297680"/>
            <a:ext cx="3320186" cy="105156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443984"/>
            <a:ext cx="2954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1">
                <a:solidFill>
                  <a:srgbClr val="161817"/>
                </a:solidFill>
                <a:latin typeface="Arial"/>
              </a:rPr>
              <a:t>“I know the product type.”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4956048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7A52"/>
                </a:solidFill>
                <a:latin typeface="Arial"/>
              </a:rPr>
              <a:t>→ Shop by Category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5754" y="4297680"/>
            <a:ext cx="3320186" cy="105156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922" y="4443984"/>
            <a:ext cx="2954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1">
                <a:solidFill>
                  <a:srgbClr val="161817"/>
                </a:solidFill>
                <a:latin typeface="Arial"/>
              </a:rPr>
              <a:t>“I know my device.”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922" y="4956048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7A52"/>
                </a:solidFill>
                <a:latin typeface="Arial"/>
              </a:rPr>
              <a:t>→ Shop by Device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0260" y="4297680"/>
            <a:ext cx="3320186" cy="105156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1428" y="4443984"/>
            <a:ext cx="2954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1">
                <a:solidFill>
                  <a:srgbClr val="161817"/>
                </a:solidFill>
                <a:latin typeface="Arial"/>
              </a:rPr>
              <a:t>“I know my situation.”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1428" y="4956048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27A52"/>
                </a:solidFill>
                <a:latin typeface="Arial"/>
              </a:rPr>
              <a:t>→ Shop by Use-Case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THE MOVE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Demote codenames to series badges (‘Hugster Laptop Backpack’) — keep the brand equity, win the head term. Editorial mega-menu + use-case landing pages turn navigation into a margin and AOV lever.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Taxonomy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 i="0" spc="-100">
                <a:solidFill>
                  <a:srgbClr val="2B2E2C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spc="-40">
                <a:solidFill>
                  <a:srgbClr val="FFFFFF"/>
                </a:solidFill>
                <a:latin typeface="Arial"/>
              </a:rPr>
              <a:t>The Search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886200"/>
            <a:ext cx="64008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8CBC8"/>
                </a:solidFill>
                <a:latin typeface="Arial"/>
              </a:rPr>
              <a:t>The highest-intent, highest-converting surface on the site — today a lookup box, tomorrow a discovery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91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SEARCH  · 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From lookup box to discovery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Search users have the highest intent on the site — and convert at 2–4× the site average when search is forgiving, instant and visual.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423160"/>
            <a:ext cx="5117439" cy="1261872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423160"/>
            <a:ext cx="54864" cy="1261872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56946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1817"/>
                </a:solidFill>
                <a:latin typeface="Arial"/>
              </a:rPr>
              <a:t>Variant clutter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3522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Every colour × size × device is a separate result. ‘laptop sleeve’ returns walls of near-duplicates — the #1 relevance killer.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423160"/>
            <a:ext cx="5117439" cy="1261872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2423160"/>
            <a:ext cx="54864" cy="1261872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256946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1817"/>
                </a:solidFill>
                <a:latin typeface="Arial"/>
              </a:rPr>
              <a:t>Brand-name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293522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Customers must search ‘Loop’, ‘Stride’, ‘Skipper’ without knowing them. No synonym layer means generic and brand searches diverge.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840480"/>
            <a:ext cx="5117439" cy="1261872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3840480"/>
            <a:ext cx="54864" cy="1261872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98678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1817"/>
                </a:solidFill>
                <a:latin typeface="Arial"/>
              </a:rPr>
              <a:t>Un-merchandised empty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35254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The highest-intent real estate on the site is likely blank before typing — no trending, hero products or recently-viewed.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3840480"/>
            <a:ext cx="5117439" cy="1261872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3840480"/>
            <a:ext cx="54864" cy="1261872"/>
          </a:xfrm>
          <a:prstGeom prst="rect">
            <a:avLst/>
          </a:prstGeom>
          <a:solidFill>
            <a:srgbClr val="B8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0751" y="398678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1817"/>
                </a:solidFill>
                <a:latin typeface="Arial"/>
              </a:rPr>
              <a:t>No typo tolerance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4352544"/>
            <a:ext cx="467852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F6C"/>
                </a:solidFill>
                <a:latin typeface="Arial"/>
              </a:rPr>
              <a:t>‘powerbank’, ‘magsafe’, ‘air pod’, ‘organiser/organizer’ risk dead-end zero-results — the worst premium failure.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SO 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DailyObjects has done the hard part — a deep, premium catalogue and clean taxonomy. Search just isn’t surfacing it. The fixes are among the highest-ROI upgrades available.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SEARCH  ·  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The future search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Visual, forgiving, merchandised, intelligent — premium is confidence-building guidance at the moment of intent.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86000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A9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61817"/>
                </a:solidFill>
                <a:latin typeface="Arial"/>
              </a:rPr>
              <a:t>magsafe  </a:t>
            </a:r>
            <a:r>
              <a:rPr sz="1200" b="0" i="0">
                <a:solidFill>
                  <a:srgbClr val="9A9E9B"/>
                </a:solidFill>
                <a:latin typeface="Arial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7568" y="2286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127A52"/>
                </a:solidFill>
                <a:latin typeface="Arial"/>
              </a:rPr>
              <a:t>⌕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834640"/>
            <a:ext cx="5486400" cy="265176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96265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127A52"/>
                </a:solidFill>
                <a:latin typeface="Arial"/>
              </a:rPr>
              <a:t>DID YOU MEAN “MAGSAFE”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9848" y="3310128"/>
            <a:ext cx="457200" cy="45720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429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2918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60">
                <a:solidFill>
                  <a:srgbClr val="6B6F6C"/>
                </a:solidFill>
                <a:latin typeface="Arial"/>
              </a:rPr>
              <a:t>TOP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51129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1817"/>
                </a:solidFill>
                <a:latin typeface="Arial"/>
              </a:rPr>
              <a:t>MagSafe Chargers · MagSafe Wallets ·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9848" y="3877056"/>
            <a:ext cx="457200" cy="45720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9959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85876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60">
                <a:solidFill>
                  <a:srgbClr val="6B6F6C"/>
                </a:solidFill>
                <a:latin typeface="Arial"/>
              </a:rPr>
              <a:t>HERO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07822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1817"/>
                </a:solidFill>
                <a:latin typeface="Arial"/>
              </a:rPr>
              <a:t>Loop Qi2 Power Bank · Surge 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" y="4443984"/>
            <a:ext cx="457200" cy="457200"/>
          </a:xfrm>
          <a:prstGeom prst="rect">
            <a:avLst/>
          </a:prstGeom>
          <a:solidFill>
            <a:srgbClr val="F5F5F2"/>
          </a:solidFill>
          <a:ln w="12700">
            <a:solidFill>
              <a:srgbClr val="9A9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5628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spc="40">
                <a:solidFill>
                  <a:srgbClr val="6B6F6C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42569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60">
                <a:solidFill>
                  <a:srgbClr val="6B6F6C"/>
                </a:solidFill>
                <a:latin typeface="Arial"/>
              </a:rPr>
              <a:t>RECENTLY VIEWED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64515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1817"/>
                </a:solidFill>
                <a:latin typeface="Arial"/>
              </a:rPr>
              <a:t>Stride 2.0 Case — iPhone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286000"/>
            <a:ext cx="4565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127A52"/>
                </a:solidFill>
                <a:latin typeface="Arial"/>
              </a:rPr>
              <a:t>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542032"/>
            <a:ext cx="45655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23533"/>
                </a:solidFill>
                <a:latin typeface="Arial"/>
              </a:rPr>
              <a:t>Variant rollup · merchandised empty state · synonyms, typo &amp; fuzzy · ‘Did you mean’ · short titles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84848" y="3072384"/>
            <a:ext cx="45655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84848" y="3200400"/>
            <a:ext cx="4565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127A52"/>
                </a:solidFill>
                <a:latin typeface="Arial"/>
              </a:rPr>
              <a:t>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3456432"/>
            <a:ext cx="45655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23533"/>
                </a:solidFill>
                <a:latin typeface="Arial"/>
              </a:rPr>
              <a:t>Faceted search (device/size/colour/standard/price) · business-weighted ranking · use-case missions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84848" y="3986784"/>
            <a:ext cx="45655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84848" y="4114800"/>
            <a:ext cx="4565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127A52"/>
                </a:solidFill>
                <a:latin typeface="Arial"/>
              </a:rPr>
              <a:t>LATER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370832"/>
            <a:ext cx="45655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23533"/>
                </a:solidFill>
                <a:latin typeface="Arial"/>
              </a:rPr>
              <a:t>Semantic search · natural-language → facets · personalised ranking · visual &amp; conversational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THE VISION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Search by use-case, device, compatibility, occasion and gifting — framings this catalogue is ideally suited to. Turn the empty state into an editorial ‘discover’ surface and never show a dead end.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 i="0" spc="-100">
                <a:solidFill>
                  <a:srgbClr val="2B2E2C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spc="-40">
                <a:solidFill>
                  <a:srgbClr val="FFFFFF"/>
                </a:solidFill>
                <a:latin typeface="Arial"/>
              </a:rPr>
              <a:t>The Prioritised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886200"/>
            <a:ext cx="64008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8CBC8"/>
                </a:solidFill>
                <a:latin typeface="Arial"/>
              </a:rPr>
              <a:t>Sequenced for momentum, not a big-bang replatform — each phase ships value on its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91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ROADMAP  ·  PRIORITISATION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Impact vs effort — start top-left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P1 initiatives hit the conversion + AOV + perceived-premium trifecta at low-to-medium build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7088" y="2331720"/>
            <a:ext cx="7863840" cy="269748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847088" y="3680460"/>
            <a:ext cx="7863840" cy="0"/>
          </a:xfrm>
          <a:prstGeom prst="bentConnector3">
            <a:avLst/>
          </a:prstGeom>
          <a:ln w="12700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79008" y="2331720"/>
            <a:ext cx="0" cy="2697480"/>
          </a:xfrm>
          <a:prstGeom prst="bentConnector3">
            <a:avLst/>
          </a:prstGeom>
          <a:ln w="12700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2313432"/>
            <a:ext cx="914400" cy="2697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100">
                <a:solidFill>
                  <a:srgbClr val="6B6F6C"/>
                </a:solidFill>
                <a:latin typeface="Arial"/>
              </a:rPr>
              <a:t>BUSINESS  IMPACT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512064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 spc="100">
                <a:solidFill>
                  <a:srgbClr val="6B6F6C"/>
                </a:solidFill>
                <a:latin typeface="Arial"/>
              </a:rPr>
              <a:t>IMPLEMENTATION  EFFORT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2423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127A52"/>
                </a:solidFill>
                <a:latin typeface="Arial"/>
              </a:rPr>
              <a:t>QUICK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736" y="2423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161817"/>
                </a:solidFill>
                <a:latin typeface="Arial"/>
              </a:rPr>
              <a:t>BIG BETS</a:t>
            </a:r>
          </a:p>
        </p:txBody>
      </p:sp>
      <p:sp>
        <p:nvSpPr>
          <p:cNvPr id="13" name="Oval 12"/>
          <p:cNvSpPr/>
          <p:nvPr/>
        </p:nvSpPr>
        <p:spPr>
          <a:xfrm>
            <a:off x="2569464" y="2591409"/>
            <a:ext cx="128016" cy="12801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2545689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61817"/>
                </a:solidFill>
                <a:latin typeface="Arial"/>
              </a:rPr>
              <a:t>Sticky ATC + trust</a:t>
            </a:r>
          </a:p>
        </p:txBody>
      </p:sp>
      <p:sp>
        <p:nvSpPr>
          <p:cNvPr id="15" name="Oval 14"/>
          <p:cNvSpPr/>
          <p:nvPr/>
        </p:nvSpPr>
        <p:spPr>
          <a:xfrm>
            <a:off x="3355848" y="3023006"/>
            <a:ext cx="128016" cy="12801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297728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61817"/>
                </a:solidFill>
                <a:latin typeface="Arial"/>
              </a:rPr>
              <a:t>Variant rollup</a:t>
            </a:r>
          </a:p>
        </p:txBody>
      </p:sp>
      <p:sp>
        <p:nvSpPr>
          <p:cNvPr id="17" name="Oval 16"/>
          <p:cNvSpPr/>
          <p:nvPr/>
        </p:nvSpPr>
        <p:spPr>
          <a:xfrm>
            <a:off x="3670401" y="2645359"/>
            <a:ext cx="128016" cy="12801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53281" y="2599639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61817"/>
                </a:solidFill>
                <a:latin typeface="Arial"/>
              </a:rPr>
              <a:t>Search empty-state</a:t>
            </a:r>
          </a:p>
        </p:txBody>
      </p:sp>
      <p:sp>
        <p:nvSpPr>
          <p:cNvPr id="19" name="Oval 18"/>
          <p:cNvSpPr/>
          <p:nvPr/>
        </p:nvSpPr>
        <p:spPr>
          <a:xfrm>
            <a:off x="2884017" y="3454603"/>
            <a:ext cx="128016" cy="12801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6897" y="3408883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61817"/>
                </a:solidFill>
                <a:latin typeface="Arial"/>
              </a:rPr>
              <a:t>Naming / SEO fixes</a:t>
            </a:r>
          </a:p>
        </p:txBody>
      </p:sp>
      <p:sp>
        <p:nvSpPr>
          <p:cNvPr id="21" name="Oval 20"/>
          <p:cNvSpPr/>
          <p:nvPr/>
        </p:nvSpPr>
        <p:spPr>
          <a:xfrm>
            <a:off x="4142231" y="3616452"/>
            <a:ext cx="128016" cy="12801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357073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61817"/>
                </a:solidFill>
                <a:latin typeface="Arial"/>
              </a:rPr>
              <a:t>Messenger URL fix</a:t>
            </a:r>
          </a:p>
        </p:txBody>
      </p:sp>
      <p:sp>
        <p:nvSpPr>
          <p:cNvPr id="23" name="Oval 22"/>
          <p:cNvSpPr/>
          <p:nvPr/>
        </p:nvSpPr>
        <p:spPr>
          <a:xfrm>
            <a:off x="6501383" y="2537460"/>
            <a:ext cx="128016" cy="128016"/>
          </a:xfrm>
          <a:prstGeom prst="ellipse">
            <a:avLst/>
          </a:prstGeom>
          <a:solidFill>
            <a:srgbClr val="3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2491739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61817"/>
                </a:solidFill>
                <a:latin typeface="Arial"/>
              </a:rPr>
              <a:t>Reimagined PDP</a:t>
            </a:r>
          </a:p>
        </p:txBody>
      </p:sp>
      <p:sp>
        <p:nvSpPr>
          <p:cNvPr id="25" name="Oval 24"/>
          <p:cNvSpPr/>
          <p:nvPr/>
        </p:nvSpPr>
        <p:spPr>
          <a:xfrm>
            <a:off x="8074152" y="2753258"/>
            <a:ext cx="128016" cy="128016"/>
          </a:xfrm>
          <a:prstGeom prst="ellipse">
            <a:avLst/>
          </a:prstGeom>
          <a:solidFill>
            <a:srgbClr val="3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270753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61817"/>
                </a:solidFill>
                <a:latin typeface="Arial"/>
              </a:rPr>
              <a:t>Device nav spine</a:t>
            </a:r>
          </a:p>
        </p:txBody>
      </p:sp>
      <p:sp>
        <p:nvSpPr>
          <p:cNvPr id="27" name="Oval 26"/>
          <p:cNvSpPr/>
          <p:nvPr/>
        </p:nvSpPr>
        <p:spPr>
          <a:xfrm>
            <a:off x="7130491" y="3184855"/>
            <a:ext cx="128016" cy="128016"/>
          </a:xfrm>
          <a:prstGeom prst="ellipse">
            <a:avLst/>
          </a:prstGeom>
          <a:solidFill>
            <a:srgbClr val="3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3371" y="3139135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61817"/>
                </a:solidFill>
                <a:latin typeface="Arial"/>
              </a:rPr>
              <a:t>PLP redesign</a:t>
            </a:r>
          </a:p>
        </p:txBody>
      </p:sp>
      <p:sp>
        <p:nvSpPr>
          <p:cNvPr id="29" name="Oval 28"/>
          <p:cNvSpPr/>
          <p:nvPr/>
        </p:nvSpPr>
        <p:spPr>
          <a:xfrm>
            <a:off x="8388705" y="3454603"/>
            <a:ext cx="128016" cy="128016"/>
          </a:xfrm>
          <a:prstGeom prst="ellipse">
            <a:avLst/>
          </a:prstGeom>
          <a:solidFill>
            <a:srgbClr val="3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1585" y="3408883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61817"/>
                </a:solidFill>
                <a:latin typeface="Arial"/>
              </a:rPr>
              <a:t>Design system</a:t>
            </a:r>
          </a:p>
        </p:txBody>
      </p:sp>
      <p:sp>
        <p:nvSpPr>
          <p:cNvPr id="31" name="Oval 30"/>
          <p:cNvSpPr/>
          <p:nvPr/>
        </p:nvSpPr>
        <p:spPr>
          <a:xfrm>
            <a:off x="7445044" y="3724351"/>
            <a:ext cx="128016" cy="128016"/>
          </a:xfrm>
          <a:prstGeom prst="ellipse">
            <a:avLst/>
          </a:prstGeom>
          <a:solidFill>
            <a:srgbClr val="3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7924" y="3678631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61817"/>
                </a:solidFill>
                <a:latin typeface="Arial"/>
              </a:rPr>
              <a:t>AI / visual search</a:t>
            </a:r>
          </a:p>
        </p:txBody>
      </p:sp>
      <p:sp>
        <p:nvSpPr>
          <p:cNvPr id="33" name="Oval 32"/>
          <p:cNvSpPr/>
          <p:nvPr/>
        </p:nvSpPr>
        <p:spPr>
          <a:xfrm>
            <a:off x="10122407" y="2377440"/>
            <a:ext cx="128016" cy="128016"/>
          </a:xfrm>
          <a:prstGeom prst="ellipse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23576" y="23225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61817"/>
                </a:solidFill>
                <a:latin typeface="Arial"/>
              </a:rPr>
              <a:t>Quick wins (2–4 wks)</a:t>
            </a:r>
          </a:p>
        </p:txBody>
      </p:sp>
      <p:sp>
        <p:nvSpPr>
          <p:cNvPr id="35" name="Oval 34"/>
          <p:cNvSpPr/>
          <p:nvPr/>
        </p:nvSpPr>
        <p:spPr>
          <a:xfrm>
            <a:off x="10122407" y="2743200"/>
            <a:ext cx="128016" cy="128016"/>
          </a:xfrm>
          <a:prstGeom prst="ellipse">
            <a:avLst/>
          </a:prstGeom>
          <a:solidFill>
            <a:srgbClr val="3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3576" y="268833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61817"/>
                </a:solidFill>
                <a:latin typeface="Arial"/>
              </a:rPr>
              <a:t>Strategic (1–9 mths)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22407" y="320040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6F6C"/>
                </a:solidFill>
                <a:latin typeface="Arial"/>
              </a:rPr>
              <a:t>Prioritise by business impact, customer impact, complexity, engineering effort and expected conversion uplift.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5532120"/>
            <a:ext cx="10509199" cy="603504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5532120"/>
            <a:ext cx="64008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" y="562813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80">
                <a:solidFill>
                  <a:srgbClr val="127A52"/>
                </a:solidFill>
                <a:latin typeface="Arial"/>
              </a:rPr>
              <a:t>START 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24328" y="5609844"/>
            <a:ext cx="845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23533"/>
                </a:solidFill>
                <a:latin typeface="Arial"/>
              </a:rPr>
              <a:t>The top-left quadrant — sticky ATC, variant rollup, merchandised search, naming &amp; SEO — is where conversion, AOV and perceived premium compound fastest, for the least build.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Roadmap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493776"/>
            <a:ext cx="274320" cy="41148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41148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240">
                <a:solidFill>
                  <a:srgbClr val="127A52"/>
                </a:solidFill>
                <a:latin typeface="Arial"/>
              </a:rPr>
              <a:t>ROADMAP  ·  THREE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 spc="-30">
                <a:solidFill>
                  <a:srgbClr val="161817"/>
                </a:solidFill>
                <a:latin typeface="Arial"/>
              </a:rPr>
              <a:t>A sequenced plan, owner-ready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17904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6B6F6C"/>
                </a:solidFill>
                <a:latin typeface="Arial"/>
              </a:rPr>
              <a:t>Each phase is independently shippable — no phase waits on a full replatform.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286000"/>
            <a:ext cx="3320186" cy="3337560"/>
          </a:xfrm>
          <a:prstGeom prst="rect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286000"/>
            <a:ext cx="3320186" cy="603504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80">
                <a:solidFill>
                  <a:srgbClr val="FFFFFF"/>
                </a:solidFill>
                <a:latin typeface="Arial"/>
              </a:rPr>
              <a:t>QUICK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633472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40">
                <a:solidFill>
                  <a:srgbClr val="D9E6DF"/>
                </a:solidFill>
                <a:latin typeface="Arial"/>
              </a:rPr>
              <a:t>2–4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63240"/>
            <a:ext cx="288127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050" b="1" i="0">
                <a:solidFill>
                  <a:srgbClr val="127A52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Sticky ATC + PDP trust cluster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127A52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Variant rollup &amp; swatches (PLP + search)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127A52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Search synonyms, typo tolerance, empty state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127A52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Naming &amp; title fixes; messenger-bag URL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127A52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H1 + intro + FAQ schema on every PLP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127A52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Split the charging page into landing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5754" y="2286000"/>
            <a:ext cx="3320186" cy="333756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5754" y="2286000"/>
            <a:ext cx="3320186" cy="603504"/>
          </a:xfrm>
          <a:prstGeom prst="rect">
            <a:avLst/>
          </a:prstGeom>
          <a:solidFill>
            <a:srgbClr val="3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77440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80">
                <a:solidFill>
                  <a:srgbClr val="FFFFFF"/>
                </a:solidFill>
                <a:latin typeface="Arial"/>
              </a:rPr>
              <a:t>MEDIUM-TERM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33472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40">
                <a:solidFill>
                  <a:srgbClr val="9A9E9B"/>
                </a:solidFill>
                <a:latin typeface="Arial"/>
              </a:rPr>
              <a:t>1–3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063240"/>
            <a:ext cx="288127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050" b="1" i="0">
                <a:solidFill>
                  <a:srgbClr val="323533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7-frame PDP gallery + reimagined PDP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323533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PLP redesign: cards, filters, use-case chips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323533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Editorial mega-menu + Shop-by-Device spine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323533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Faceted search + business-weighted ranking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323533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Guest checkout + UPI / express wallets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323533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Gifting suite + ‘build your setup’ bundles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0260" y="2286000"/>
            <a:ext cx="3320186" cy="3337560"/>
          </a:xfrm>
          <a:prstGeom prst="rect">
            <a:avLst/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0260" y="2286000"/>
            <a:ext cx="3320186" cy="603504"/>
          </a:xfrm>
          <a:prstGeom prst="rect">
            <a:avLst/>
          </a:prstGeom>
          <a:solidFill>
            <a:srgbClr val="0B4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8004" y="2377440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80">
                <a:solidFill>
                  <a:srgbClr val="FFFFFF"/>
                </a:solidFill>
                <a:latin typeface="Arial"/>
              </a:rPr>
              <a:t>LONG-TERM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8004" y="2633472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40">
                <a:solidFill>
                  <a:srgbClr val="D9E6DF"/>
                </a:solidFill>
                <a:latin typeface="Arial"/>
              </a:rPr>
              <a:t>3–9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8004" y="3063240"/>
            <a:ext cx="288127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050" b="1" i="0">
                <a:solidFill>
                  <a:srgbClr val="0B4A34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Full parent-child SKU collapse (PIM)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0B4A34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Personalisation &amp; recommendation engine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0B4A34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AI / semantic &amp; visual search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0B4A34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Premium storytelling &amp; editorial commerce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0B4A34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Documented design system &amp; component library</a:t>
            </a:r>
          </a:p>
          <a:p>
            <a:pPr algn="l">
              <a:lnSpc>
                <a:spcPct val="114000"/>
              </a:lnSpc>
              <a:spcBef>
                <a:spcPts val="700"/>
              </a:spcBef>
            </a:pPr>
            <a:r>
              <a:rPr sz="1050" b="1" i="0">
                <a:solidFill>
                  <a:srgbClr val="0B4A34"/>
                </a:solidFill>
                <a:latin typeface="Arial"/>
              </a:rPr>
              <a:t>— </a:t>
            </a:r>
            <a:r>
              <a:rPr sz="1050" b="0" i="0">
                <a:solidFill>
                  <a:srgbClr val="323533"/>
                </a:solidFill>
                <a:latin typeface="Arial"/>
              </a:rPr>
              <a:t>Personalised, device-aware home &amp; discovery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" y="6327648"/>
            <a:ext cx="10509199" cy="0"/>
          </a:xfrm>
          <a:prstGeom prst="bentConnector3">
            <a:avLst/>
          </a:prstGeom>
          <a:ln w="9525">
            <a:solidFill>
              <a:srgbClr val="DDD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248" y="6391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   ·  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143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60">
                <a:solidFill>
                  <a:srgbClr val="127A52"/>
                </a:solidFill>
                <a:latin typeface="Arial"/>
              </a:rPr>
              <a:t>THE NORTH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9164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 i="0" spc="-40">
                <a:solidFill>
                  <a:srgbClr val="FFFFFF"/>
                </a:solidFill>
                <a:latin typeface="Arial"/>
              </a:rPr>
              <a:t>A premium global lifestyle</a:t>
            </a:r>
          </a:p>
          <a:p>
            <a:pPr algn="l">
              <a:lnSpc>
                <a:spcPct val="104000"/>
              </a:lnSpc>
            </a:pPr>
            <a:r>
              <a:rPr sz="3800" b="1" i="0" spc="-40">
                <a:solidFill>
                  <a:srgbClr val="FFFFFF"/>
                </a:solidFill>
                <a:latin typeface="Arial"/>
              </a:rPr>
              <a:t>commerce experience — that still converts.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611880"/>
            <a:ext cx="45720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2421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2421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BFC4C0"/>
                </a:solidFill>
                <a:latin typeface="Arial"/>
              </a:rPr>
              <a:t>Calmer, faster paths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7127" y="3611880"/>
            <a:ext cx="45720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7127" y="3794760"/>
            <a:ext cx="2421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7127" y="4160520"/>
            <a:ext cx="2421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BFC4C0"/>
                </a:solidFill>
                <a:latin typeface="Arial"/>
              </a:rPr>
              <a:t>Story + ecosystem cross-sell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3611880"/>
            <a:ext cx="45720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3794760"/>
            <a:ext cx="2421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4160520"/>
            <a:ext cx="2421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BFC4C0"/>
                </a:solidFill>
                <a:latin typeface="Arial"/>
              </a:rPr>
              <a:t>Intent-led &amp; personalised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8887" y="3611880"/>
            <a:ext cx="457200" cy="4572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28887" y="3794760"/>
            <a:ext cx="2421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Brand love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8887" y="4160520"/>
            <a:ext cx="2421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BFC4C0"/>
                </a:solidFill>
                <a:latin typeface="Arial"/>
              </a:rPr>
              <a:t>Desire, not discounts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029200"/>
            <a:ext cx="10509199" cy="822960"/>
          </a:xfrm>
          <a:prstGeom prst="rect">
            <a:avLst/>
          </a:prstGeom>
          <a:solidFill>
            <a:srgbClr val="21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5029200"/>
            <a:ext cx="64008" cy="822960"/>
          </a:xfrm>
          <a:prstGeom prst="rect">
            <a:avLst/>
          </a:prstGeom>
          <a:solidFill>
            <a:srgbClr val="12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5029200"/>
            <a:ext cx="99605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Build the stage on top of the store — one shippable phase at a time. DailyObjects already owns the raw material to be one of the best premium ecommerce experiences in the world. This is the plan to present it that way.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391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60">
                <a:solidFill>
                  <a:srgbClr val="9A9E9B"/>
                </a:solidFill>
                <a:latin typeface="Arial"/>
              </a:rPr>
              <a:t>DailyObjects  ·  Strategy Proposal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0287" y="6391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 spc="100">
                <a:solidFill>
                  <a:srgbClr val="9A9E9B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