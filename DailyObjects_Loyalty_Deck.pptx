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Research deck. The spine is an honest lens: most points programmes are a deferred discount; loyalty value lives in the non-points wrapper.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central thesis, honest.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intellectual spine of the whole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Premium brands over-index on the defensible four.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build-here vs avoid split.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Condensed matrix, with an honest "what it really is" column.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Directly answers the three questions that motivated the honest re-read.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three non-discount exemplars, most relevant to a design-led brand.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Paid economics that mostly do not transfer to a mid-frequency accessories brand.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Starbucks and Marriott — clever funding that a physical-goods brand cannot replicate.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Indian archetypes vs the minority of genuinely non-discount ideas.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whitespace — the strategic gift.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Omnichannel as the moat, tuned to the 150-store future.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Failure pattern: optimise the liability at the expense of the promise, changed abruptly.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biases and their one-line design implications.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Translates the honest lens into DailyObjects' specific situation.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Positions no benchmark owns.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21488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B4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DAILYOBJECTS  ·  LOYALTY STRATEGY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68680" y="2697480"/>
            <a:ext cx="10424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great loyalty is really made of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868680" y="4114800"/>
            <a:ext cx="9326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i="1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benchmarking study of 30+ programmes — read with an honest lens: what is genuinely loyalty, what is just a discount, and what it means for a design-led accessories brand.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68680" y="5943600"/>
            <a:ext cx="128016" cy="128016"/>
          </a:xfrm>
          <a:prstGeom prst="ellipse">
            <a:avLst/>
          </a:prstGeom>
          <a:solidFill>
            <a:srgbClr val="B45F3B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58704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August 2026 · Confidential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566928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WHAT’S INSIDE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" y="914400"/>
            <a:ext cx="104543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study, end to end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68680" y="2011680"/>
            <a:ext cx="6858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45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645920" y="2011680"/>
            <a:ext cx="45720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honest lenses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355080" y="2039112"/>
            <a:ext cx="4967935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judge every programme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68680" y="2560320"/>
            <a:ext cx="10454335" cy="0"/>
          </a:xfrm>
          <a:prstGeom prst="line">
            <a:avLst/>
          </a:prstGeom>
          <a:noFill/>
          <a:ln w="12700">
            <a:solidFill>
              <a:srgbClr val="E4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670048"/>
            <a:ext cx="6858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45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45920" y="2670048"/>
            <a:ext cx="45720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makes a great programme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355080" y="2697480"/>
            <a:ext cx="4967935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kinds of value; recognition over discount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68680" y="3218688"/>
            <a:ext cx="10454335" cy="0"/>
          </a:xfrm>
          <a:prstGeom prst="line">
            <a:avLst/>
          </a:prstGeom>
          <a:noFill/>
          <a:ln w="12700">
            <a:solidFill>
              <a:srgbClr val="E4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328416"/>
            <a:ext cx="6858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45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645920" y="3328416"/>
            <a:ext cx="45720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evidence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355080" y="3355848"/>
            <a:ext cx="4967935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 programmes, global &amp; Indian, read honestly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68680" y="3877056"/>
            <a:ext cx="10454335" cy="0"/>
          </a:xfrm>
          <a:prstGeom prst="line">
            <a:avLst/>
          </a:prstGeom>
          <a:noFill/>
          <a:ln w="12700">
            <a:solidFill>
              <a:srgbClr val="E4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3986784"/>
            <a:ext cx="6858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45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45920" y="3986784"/>
            <a:ext cx="45720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fails, and why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55080" y="4014216"/>
            <a:ext cx="4967935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patterns and the guardrails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68680" y="4535424"/>
            <a:ext cx="10454335" cy="0"/>
          </a:xfrm>
          <a:prstGeom prst="line">
            <a:avLst/>
          </a:prstGeom>
          <a:noFill/>
          <a:ln w="12700">
            <a:solidFill>
              <a:srgbClr val="E4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4645152"/>
            <a:ext cx="6858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45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645920" y="4645152"/>
            <a:ext cx="45720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psychology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355080" y="4672584"/>
            <a:ext cx="4967935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biases to design with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68680" y="5193792"/>
            <a:ext cx="10454335" cy="0"/>
          </a:xfrm>
          <a:prstGeom prst="line">
            <a:avLst/>
          </a:prstGeom>
          <a:noFill/>
          <a:ln w="12700">
            <a:solidFill>
              <a:srgbClr val="E4E0D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8680" y="5303520"/>
            <a:ext cx="6858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45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645920" y="5303520"/>
            <a:ext cx="45720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DailyObjects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355080" y="5330952"/>
            <a:ext cx="4967935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read and the whitespace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68680" y="5852160"/>
            <a:ext cx="10454335" cy="0"/>
          </a:xfrm>
          <a:prstGeom prst="line">
            <a:avLst/>
          </a:prstGeom>
          <a:noFill/>
          <a:ln w="12700">
            <a:solidFill>
              <a:srgbClr val="E4E0D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868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DailyObjects · Loyalty Strategy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07743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566928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" y="914400"/>
            <a:ext cx="104543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“loyalty” is a discount, deferred.</a:t>
            </a:r>
            <a:endParaRPr lang="en-US" sz="3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loyalty is everything wrapped around it.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68680" y="2697480"/>
            <a:ext cx="96926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points scheme that gives ~1–2% back to redeem later is, economically, a rebate — a discount with a delay. </a:t>
            </a:r>
            <a:endParaRPr lang="en-US" sz="15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creates loyalty — attachment, differentiation, defensibility — is the non-points wrapper: status, access, community, service and experiences. 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B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premium brands (Diptyque, Nike, Lululemon) build loyalty with no discount at all. That is the model a design-led brand should study.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68680" y="5843016"/>
            <a:ext cx="109728" cy="109728"/>
          </a:xfrm>
          <a:prstGeom prst="ellipse">
            <a:avLst/>
          </a:prstGeom>
          <a:solidFill>
            <a:srgbClr val="B45F3B"/>
          </a:solidFill>
          <a:ln/>
        </p:spPr>
      </p:sp>
      <p:sp>
        <p:nvSpPr>
          <p:cNvPr id="6" name="Text 4"/>
          <p:cNvSpPr/>
          <p:nvPr/>
        </p:nvSpPr>
        <p:spPr>
          <a:xfrm>
            <a:off x="1124712" y="5751576"/>
            <a:ext cx="10198303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4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  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B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every programme by what it rewards with — recognition and access, or money off. The difference is the whole story.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6868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DailyObjects · Loyalty Strategy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07743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1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1828800"/>
            <a:ext cx="3657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2E33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868680" y="379476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lens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68680" y="46634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every programme — and what makes a great one.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566928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HONEST LENSES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" y="914400"/>
            <a:ext cx="104543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questions we ask of every programme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68680" y="1965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71600" y="1947672"/>
            <a:ext cx="444992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it actually a discount?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1371600" y="2423160"/>
            <a:ext cx="444992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Earning a few % back to redeem later is a deferred, conditional rebate. The only twist vs a markdown is behavioural — deferral creates a switching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70168" y="1965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73088" y="1947672"/>
            <a:ext cx="444992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does attachment come from?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873088" y="2423160"/>
            <a:ext cx="444992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never the points. It is the wrapper: status/tiers, community, recognition, gifting and experiences.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4023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71600" y="4005072"/>
            <a:ext cx="444992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“data” real?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1371600" y="4480560"/>
            <a:ext cx="444992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where a transaction would otherwise be anonymous. Strong for offline/multi-brand; weak for D2C that already has online accounts.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70168" y="4023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873088" y="4005072"/>
            <a:ext cx="444992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does the reward cost?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873088" y="4480560"/>
            <a:ext cx="444992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reward a physical-product brand gives is real COGS — unlike a hotel upgrade or a digital drop. It decides what you can afford to reward with.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6868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DailyObjects · Loyalty Strategy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07743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566928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PROGRAMME CAN OFFER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" y="914400"/>
            <a:ext cx="104543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kinds of value — four of them defensible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68680" y="2103120"/>
            <a:ext cx="109728" cy="109728"/>
          </a:xfrm>
          <a:prstGeom prst="ellipse">
            <a:avLst/>
          </a:prstGeom>
          <a:solidFill>
            <a:srgbClr val="8A8F9A"/>
          </a:solidFill>
          <a:ln/>
        </p:spPr>
      </p:sp>
      <p:sp>
        <p:nvSpPr>
          <p:cNvPr id="5" name="Text 3"/>
          <p:cNvSpPr/>
          <p:nvPr/>
        </p:nvSpPr>
        <p:spPr>
          <a:xfrm>
            <a:off x="1088136" y="2002536"/>
            <a:ext cx="21198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A3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514600"/>
            <a:ext cx="233926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easier to buy &amp; use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573704" y="2103120"/>
            <a:ext cx="109728" cy="109728"/>
          </a:xfrm>
          <a:prstGeom prst="ellipse">
            <a:avLst/>
          </a:prstGeom>
          <a:solidFill>
            <a:srgbClr val="8A8F9A"/>
          </a:solidFill>
          <a:ln/>
        </p:spPr>
      </p:sp>
      <p:sp>
        <p:nvSpPr>
          <p:cNvPr id="8" name="Text 6"/>
          <p:cNvSpPr/>
          <p:nvPr/>
        </p:nvSpPr>
        <p:spPr>
          <a:xfrm>
            <a:off x="3793160" y="2002536"/>
            <a:ext cx="21198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A3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Economic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573704" y="2514600"/>
            <a:ext cx="233926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back (a rebate)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78728" y="2103120"/>
            <a:ext cx="109728" cy="109728"/>
          </a:xfrm>
          <a:prstGeom prst="ellipse">
            <a:avLst/>
          </a:prstGeom>
          <a:solidFill>
            <a:srgbClr val="B45F3B"/>
          </a:solidFill>
          <a:ln/>
        </p:spPr>
      </p:sp>
      <p:sp>
        <p:nvSpPr>
          <p:cNvPr id="11" name="Text 9"/>
          <p:cNvSpPr/>
          <p:nvPr/>
        </p:nvSpPr>
        <p:spPr>
          <a:xfrm>
            <a:off x="6498184" y="2002536"/>
            <a:ext cx="21198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Emotional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278728" y="2514600"/>
            <a:ext cx="233926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pride, being seen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983751" y="2103120"/>
            <a:ext cx="109728" cy="109728"/>
          </a:xfrm>
          <a:prstGeom prst="ellipse">
            <a:avLst/>
          </a:prstGeom>
          <a:solidFill>
            <a:srgbClr val="B45F3B"/>
          </a:solidFill>
          <a:ln/>
        </p:spPr>
      </p:sp>
      <p:sp>
        <p:nvSpPr>
          <p:cNvPr id="14" name="Text 12"/>
          <p:cNvSpPr/>
          <p:nvPr/>
        </p:nvSpPr>
        <p:spPr>
          <a:xfrm>
            <a:off x="9203207" y="2002536"/>
            <a:ext cx="21198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Experiential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983751" y="2514600"/>
            <a:ext cx="233926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money can’t buy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68680" y="3886200"/>
            <a:ext cx="109728" cy="109728"/>
          </a:xfrm>
          <a:prstGeom prst="ellipse">
            <a:avLst/>
          </a:prstGeom>
          <a:solidFill>
            <a:srgbClr val="B45F3B"/>
          </a:solidFill>
          <a:ln/>
        </p:spPr>
      </p:sp>
      <p:sp>
        <p:nvSpPr>
          <p:cNvPr id="17" name="Text 15"/>
          <p:cNvSpPr/>
          <p:nvPr/>
        </p:nvSpPr>
        <p:spPr>
          <a:xfrm>
            <a:off x="1088136" y="3785616"/>
            <a:ext cx="21198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Status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68680" y="4297680"/>
            <a:ext cx="233926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 &amp; identity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573704" y="3886200"/>
            <a:ext cx="109728" cy="109728"/>
          </a:xfrm>
          <a:prstGeom prst="ellipse">
            <a:avLst/>
          </a:prstGeom>
          <a:solidFill>
            <a:srgbClr val="B45F3B"/>
          </a:solidFill>
          <a:ln/>
        </p:spPr>
      </p:sp>
      <p:sp>
        <p:nvSpPr>
          <p:cNvPr id="20" name="Text 18"/>
          <p:cNvSpPr/>
          <p:nvPr/>
        </p:nvSpPr>
        <p:spPr>
          <a:xfrm>
            <a:off x="3793160" y="3785616"/>
            <a:ext cx="21198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Community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573704" y="4297680"/>
            <a:ext cx="233926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belonging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78728" y="3886200"/>
            <a:ext cx="109728" cy="109728"/>
          </a:xfrm>
          <a:prstGeom prst="ellipse">
            <a:avLst/>
          </a:prstGeom>
          <a:solidFill>
            <a:srgbClr val="8A8F9A"/>
          </a:solidFill>
          <a:ln/>
        </p:spPr>
      </p:sp>
      <p:sp>
        <p:nvSpPr>
          <p:cNvPr id="23" name="Text 21"/>
          <p:cNvSpPr/>
          <p:nvPr/>
        </p:nvSpPr>
        <p:spPr>
          <a:xfrm>
            <a:off x="6498184" y="3785616"/>
            <a:ext cx="21198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A3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Utility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278728" y="4297680"/>
            <a:ext cx="233926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 it when not buying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983751" y="3886200"/>
            <a:ext cx="109728" cy="109728"/>
          </a:xfrm>
          <a:prstGeom prst="ellipse">
            <a:avLst/>
          </a:prstGeom>
          <a:solidFill>
            <a:srgbClr val="8A8F9A"/>
          </a:solidFill>
          <a:ln/>
        </p:spPr>
      </p:sp>
      <p:sp>
        <p:nvSpPr>
          <p:cNvPr id="26" name="Text 24"/>
          <p:cNvSpPr/>
          <p:nvPr/>
        </p:nvSpPr>
        <p:spPr>
          <a:xfrm>
            <a:off x="9203207" y="3785616"/>
            <a:ext cx="21198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A3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Habit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983751" y="4297680"/>
            <a:ext cx="233926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reason to return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68680" y="5843016"/>
            <a:ext cx="109728" cy="109728"/>
          </a:xfrm>
          <a:prstGeom prst="ellipse">
            <a:avLst/>
          </a:prstGeom>
          <a:solidFill>
            <a:srgbClr val="B45F3B"/>
          </a:solidFill>
          <a:ln/>
        </p:spPr>
      </p:sp>
      <p:sp>
        <p:nvSpPr>
          <p:cNvPr id="29" name="Text 27"/>
          <p:cNvSpPr/>
          <p:nvPr/>
        </p:nvSpPr>
        <p:spPr>
          <a:xfrm>
            <a:off x="1124712" y="5751576"/>
            <a:ext cx="10198303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4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  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B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highlighted layers — emotional, experiential, status, community — are what competitors can’t copy. Points and rebates can.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6868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DailyObjects · Loyalty Strategy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7743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566928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PRINCIPLE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" y="914400"/>
            <a:ext cx="104543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Reward recognition and access — not price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68680" y="2103120"/>
            <a:ext cx="495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6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here — cheap &amp; defensible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" y="2560320"/>
            <a:ext cx="4861408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&amp; tiers — recognition, early access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&amp; experiences — belonging, drops, events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— warranty, easy returns, personalisation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— member colourways, launch-day priority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370168" y="2103120"/>
            <a:ext cx="495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as the core — margin-eroding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15888" y="2560320"/>
            <a:ext cx="4861408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Blanket points-for-money-off (a rebate)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Sitewide coupons &amp; deep markdowns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“X% back” headlines that train deal-waiting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Guaranteed member discounts on full range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095848" y="2194560"/>
            <a:ext cx="0" cy="0"/>
          </a:xfrm>
          <a:prstGeom prst="line">
            <a:avLst/>
          </a:prstGeom>
          <a:noFill/>
          <a:ln w="12700">
            <a:solidFill>
              <a:srgbClr val="E4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95848" y="2103120"/>
            <a:ext cx="0" cy="2834640"/>
          </a:xfrm>
          <a:prstGeom prst="line">
            <a:avLst/>
          </a:prstGeom>
          <a:noFill/>
          <a:ln w="12700">
            <a:solidFill>
              <a:srgbClr val="E4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5843016"/>
            <a:ext cx="109728" cy="109728"/>
          </a:xfrm>
          <a:prstGeom prst="ellipse">
            <a:avLst/>
          </a:prstGeom>
          <a:solidFill>
            <a:srgbClr val="B45F3B"/>
          </a:solidFill>
          <a:ln/>
        </p:spPr>
      </p:sp>
      <p:sp>
        <p:nvSpPr>
          <p:cNvPr id="11" name="Text 9"/>
          <p:cNvSpPr/>
          <p:nvPr/>
        </p:nvSpPr>
        <p:spPr>
          <a:xfrm>
            <a:off x="1124712" y="5751576"/>
            <a:ext cx="10198303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4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  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B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Diptyque, Nike and Lululemon prove a premium brand can build deep loyalty with zero discount.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6868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DailyObjects · Loyalty Strategy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07743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566928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BENCHMARKING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" y="914400"/>
            <a:ext cx="104543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Thirty programmes, one honest map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8680" y="1874520"/>
          <a:ext cx="10454335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40080"/>
                <a:gridCol w="502920"/>
                <a:gridCol w="566928"/>
                <a:gridCol w="566928"/>
                <a:gridCol w="658368"/>
                <a:gridCol w="5553151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really 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Sephora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A3F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Rebate + status/community wrapper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Nike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A3F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discount — access &amp; community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Lululemon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A3F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discount — service &amp; community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Diptyque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A3F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discount — gifts &amp; samples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Starbucks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A3F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Rebate-in-kind + habit + float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Marriott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A3F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Rebate funded by OTA savings; status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Amazon Prime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A3F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Paid convenience, not discount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Amex Platinum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A3F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Paid credits; engagement = retention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H&amp;M / Ulta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A3F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discounting +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Tata Neu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A3F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Coalition rebate dressed as currency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Tira Treats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A3F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Rebate, but points buy product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Casetify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A3F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In-category: tiers + warranty (voucher-led)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Mokobara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E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A3F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 discount, cushioned by warranty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45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DailyObjects (today)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45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45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45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45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45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45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Flat voucher points — the upgrade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68680" y="6080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strong · ~ = partial · – = none.  Exp. = experiences/access · Comm. = community.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86868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DailyObjects · Loyalty Strategy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107743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1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1828800"/>
            <a:ext cx="3657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2E33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868680" y="379476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evidence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68680" y="466344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global programmes, India, and the direct comparables — read honestly.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566928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WORKED EXAMPLE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" y="914400"/>
            <a:ext cx="104543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Sephora “beyond discounting”? Mostly, no.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68680" y="1965960"/>
            <a:ext cx="35661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B45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“How is this not discounting?”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4617720" y="1965960"/>
            <a:ext cx="6705295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largely is. 1 pt/$1, 500 pts = $10 is a ~2% deferred rebate. The only difference from a markdown is that deferral makes it conditional on returning — a switching cost.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68680" y="3008376"/>
            <a:ext cx="10454335" cy="0"/>
          </a:xfrm>
          <a:prstGeom prst="line">
            <a:avLst/>
          </a:prstGeom>
          <a:noFill/>
          <a:ln w="12700">
            <a:solidFill>
              <a:srgbClr val="E4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3136392"/>
            <a:ext cx="35661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B45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“How does it build attachment?”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4617720" y="3136392"/>
            <a:ext cx="6705295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points build none — they’re transactional. Attachment comes only from the wrapper: Rouge status, the community forum, birthday gifts, Bazaar exclusives.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68680" y="4178808"/>
            <a:ext cx="10454335" cy="0"/>
          </a:xfrm>
          <a:prstGeom prst="line">
            <a:avLst/>
          </a:prstGeom>
          <a:noFill/>
          <a:ln w="12700">
            <a:solidFill>
              <a:srgbClr val="E4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4306824"/>
            <a:ext cx="35661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B45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“How does it build data they lack?”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617720" y="4306824"/>
            <a:ext cx="6705295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multi-brand, store-heavy retailer it ties otherwise-anonymous transactions to a contactable person. A D2C brand already has online accounts — so its data prize is in-store + enrichment only.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68680" y="5349240"/>
            <a:ext cx="10454335" cy="0"/>
          </a:xfrm>
          <a:prstGeom prst="line">
            <a:avLst/>
          </a:prstGeom>
          <a:noFill/>
          <a:ln w="12700">
            <a:solidFill>
              <a:srgbClr val="E4E0D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68680" y="5843016"/>
            <a:ext cx="109728" cy="109728"/>
          </a:xfrm>
          <a:prstGeom prst="ellipse">
            <a:avLst/>
          </a:prstGeom>
          <a:solidFill>
            <a:srgbClr val="B45F3B"/>
          </a:solidFill>
          <a:ln/>
        </p:spPr>
      </p:sp>
      <p:sp>
        <p:nvSpPr>
          <p:cNvPr id="14" name="Text 12"/>
          <p:cNvSpPr/>
          <p:nvPr/>
        </p:nvSpPr>
        <p:spPr>
          <a:xfrm>
            <a:off x="1124712" y="5751576"/>
            <a:ext cx="10198303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4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  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B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Don’t mistake the points for the magic — they’re a rebate. The loyalty lives in the status, community and access around them.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6868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DailyObjects · Loyalty Strategy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07743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566928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MODELS TO STUDY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" y="914400"/>
            <a:ext cx="104543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Loyalty with zero discount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68680" y="2057400"/>
            <a:ext cx="31799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Nike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68680" y="2606040"/>
            <a:ext cx="3179978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membership, no points. Rewards with SNKRS early/exclusive drops, free NRC/NTC apps and community.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68680" y="4343400"/>
            <a:ext cx="2997098" cy="0"/>
          </a:xfrm>
          <a:prstGeom prst="line">
            <a:avLst/>
          </a:prstGeom>
          <a:noFill/>
          <a:ln w="12700">
            <a:solidFill>
              <a:srgbClr val="E4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4480560"/>
            <a:ext cx="317997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i="1" dirty="0">
                <a:solidFill>
                  <a:srgbClr val="2E6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+ content + community — near-zero marginal cost, impossible to price-match.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05858" y="2057400"/>
            <a:ext cx="31799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Lululemon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05858" y="2606040"/>
            <a:ext cx="3179978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Free, no points. Free hemming, easy returns, member community events.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05858" y="4343400"/>
            <a:ext cx="2997098" cy="0"/>
          </a:xfrm>
          <a:prstGeom prst="line">
            <a:avLst/>
          </a:prstGeom>
          <a:noFill/>
          <a:ln w="12700">
            <a:solidFill>
              <a:srgbClr val="E4E0D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5858" y="4480560"/>
            <a:ext cx="317997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i="1" dirty="0">
                <a:solidFill>
                  <a:srgbClr val="2E6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+ community carry the whole programme — cheap, on-brand, no markdown.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143037" y="2057400"/>
            <a:ext cx="31799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Diptyque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8143037" y="2606040"/>
            <a:ext cx="3179978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points, no discount. Birthday gift, a free sample with every fragrance, early access.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43037" y="4343400"/>
            <a:ext cx="2997098" cy="0"/>
          </a:xfrm>
          <a:prstGeom prst="line">
            <a:avLst/>
          </a:prstGeom>
          <a:noFill/>
          <a:ln w="12700">
            <a:solidFill>
              <a:srgbClr val="E4E0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43037" y="4480560"/>
            <a:ext cx="317997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i="1" dirty="0">
                <a:solidFill>
                  <a:srgbClr val="2E6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Gifting &amp; sampling build attachment while protecting price — the purest case.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68680" y="5843016"/>
            <a:ext cx="109728" cy="109728"/>
          </a:xfrm>
          <a:prstGeom prst="ellipse">
            <a:avLst/>
          </a:prstGeom>
          <a:solidFill>
            <a:srgbClr val="B45F3B"/>
          </a:solidFill>
          <a:ln/>
        </p:spPr>
      </p:sp>
      <p:sp>
        <p:nvSpPr>
          <p:cNvPr id="17" name="Text 15"/>
          <p:cNvSpPr/>
          <p:nvPr/>
        </p:nvSpPr>
        <p:spPr>
          <a:xfrm>
            <a:off x="1124712" y="5751576"/>
            <a:ext cx="10198303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4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  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B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access only works if the brand is desirable enough that “getting in first” feels like a reward. Build that desirability first.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868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DailyObjects · Loyalty Strategy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07743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566928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MODELS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" y="914400"/>
            <a:ext cx="104543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you pay to belong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68680" y="2103120"/>
            <a:ext cx="49528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Amazon Prime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68680" y="2651760"/>
            <a:ext cx="495284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paid convenience bundle — not product discounting. The fee funds the shipping.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68680" y="3886200"/>
            <a:ext cx="49528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B4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works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~10× the fee + sunk-cost commitment; cancelling means losing a daily-used bundle.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370168" y="2103120"/>
            <a:ext cx="49528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Amex Platinum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370168" y="2651760"/>
            <a:ext cx="495284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card. Use-it-or-lose-it monthly credits, funded by fee + interchange.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370168" y="3886200"/>
            <a:ext cx="49528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B4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works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engineered as retention — you return monthly to justify the fee.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95848" y="2103120"/>
            <a:ext cx="0" cy="2651760"/>
          </a:xfrm>
          <a:prstGeom prst="line">
            <a:avLst/>
          </a:prstGeom>
          <a:noFill/>
          <a:ln w="12700">
            <a:solidFill>
              <a:srgbClr val="E4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8680" y="5843016"/>
            <a:ext cx="109728" cy="109728"/>
          </a:xfrm>
          <a:prstGeom prst="ellipse">
            <a:avLst/>
          </a:prstGeom>
          <a:solidFill>
            <a:srgbClr val="B45F3B"/>
          </a:solidFill>
          <a:ln/>
        </p:spPr>
      </p:sp>
      <p:sp>
        <p:nvSpPr>
          <p:cNvPr id="12" name="Text 10"/>
          <p:cNvSpPr/>
          <p:nvPr/>
        </p:nvSpPr>
        <p:spPr>
          <a:xfrm>
            <a:off x="1124712" y="5751576"/>
            <a:ext cx="10198303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4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  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B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DailyObjects: a paid tier needs frequent use to justify the fee — hard at medium frequency, and there’s no interchange. A later, narrow play.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DailyObjects · Loyalty Strategy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07743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566928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&amp; STATUS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" y="914400"/>
            <a:ext cx="104543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Frequency and status — funded cleverly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68680" y="2103120"/>
            <a:ext cx="49528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Starbucks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68680" y="2651760"/>
            <a:ext cx="495284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Stars are a rebate-in-kind, but the real engine is habit + a stored-value float and breakage that partly self-fund the rewards. Attachment is thin — the 2026 cuts sparked backlash.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68680" y="4069080"/>
            <a:ext cx="495284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B4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DailyObjects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float/breakage model needs high frequency + prepaid behaviour — it does not transfer. Borrow the app as the data &amp; habit hub.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370168" y="2103120"/>
            <a:ext cx="49528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Marriott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370168" y="2651760"/>
            <a:ext cx="495284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Points→free nights are a rebate, but status perks are near-zero cost and the rewards are funded by avoided OTA commissions and perishable rooms.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370168" y="4069080"/>
            <a:ext cx="495284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B4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DailyObjects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no OTA windfall and no perishable inventory — a free case is real COGS. Fund from margin; lean on zero-cost recognition.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95848" y="2103120"/>
            <a:ext cx="0" cy="2834640"/>
          </a:xfrm>
          <a:prstGeom prst="line">
            <a:avLst/>
          </a:prstGeom>
          <a:noFill/>
          <a:ln w="12700">
            <a:solidFill>
              <a:srgbClr val="E4E0D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DailyObjects · Loyalty Strategy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07743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566928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" y="914400"/>
            <a:ext cx="104543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Indian loyalty is mostly discounting in disguise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68680" y="2057400"/>
            <a:ext cx="495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dominant archetypes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" y="2514600"/>
            <a:ext cx="4861408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Coalition / e-com point rebates — Tata Neu, Reliance, Flipkart, Nykaa, Decathlon (0.5–2% back = a deferred discount)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Paid-convenience memberships — Swiggy, Bewakoof (a fee funds free delivery)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370168" y="2057400"/>
            <a:ext cx="495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6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few non-discount ideas worth stealing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15888" y="2514600"/>
            <a:ext cx="4861408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Tira — points buy aspirational product, not cash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Shoppers Stop Black — an experiential top tier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Titan — milestone anchoring + a savings/commitment device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Croma — warranty, service &amp; trade-in as currency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/ Decathlon — engagement earning (reviews) for data &amp; content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095848" y="2057400"/>
            <a:ext cx="0" cy="2743200"/>
          </a:xfrm>
          <a:prstGeom prst="line">
            <a:avLst/>
          </a:prstGeom>
          <a:noFill/>
          <a:ln w="12700">
            <a:solidFill>
              <a:srgbClr val="E4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8680" y="5843016"/>
            <a:ext cx="109728" cy="109728"/>
          </a:xfrm>
          <a:prstGeom prst="ellipse">
            <a:avLst/>
          </a:prstGeom>
          <a:solidFill>
            <a:srgbClr val="B45F3B"/>
          </a:solidFill>
          <a:ln/>
        </p:spPr>
      </p:sp>
      <p:sp>
        <p:nvSpPr>
          <p:cNvPr id="10" name="Text 8"/>
          <p:cNvSpPr/>
          <p:nvPr/>
        </p:nvSpPr>
        <p:spPr>
          <a:xfrm>
            <a:off x="1124712" y="5751576"/>
            <a:ext cx="10198303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4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  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B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coalition funds rewards from partner budgets; DailyObjects funds every reward from its own margin. Cherry-pick the non-discount mechanics; skip the discount race.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DailyObjects · Loyalty Strategy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07743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566928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DIRECT COMPARABLES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" y="914400"/>
            <a:ext cx="104543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category, most premium peers do nothing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68680" y="2011680"/>
            <a:ext cx="10454335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Bellroy · Peak Design · Nomad · Native Union · PopSockets · Fossil · Assembly · Uppercase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no structured loyalty programme at all — only newsletters, bundles and warranty.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68680" y="3383280"/>
            <a:ext cx="10454335" cy="0"/>
          </a:xfrm>
          <a:prstGeom prst="line">
            <a:avLst/>
          </a:prstGeom>
          <a:noFill/>
          <a:ln w="12700">
            <a:solidFill>
              <a:srgbClr val="E4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3611880"/>
            <a:ext cx="495284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B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Casetify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in-category template — tiers + birthday + 12-mo warranty — but voucher-led. Lead with the warranty/tier layer, not the 30% off.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370168" y="3611880"/>
            <a:ext cx="495284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B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Mokobara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member discount cushioned by a 6-yr warranty; it worked once the catalogue broadened. Frequency is the precondition for loyalty economics.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68680" y="5843016"/>
            <a:ext cx="109728" cy="109728"/>
          </a:xfrm>
          <a:prstGeom prst="ellipse">
            <a:avLst/>
          </a:prstGeom>
          <a:solidFill>
            <a:srgbClr val="B45F3B"/>
          </a:solidFill>
          <a:ln/>
        </p:spPr>
      </p:sp>
      <p:sp>
        <p:nvSpPr>
          <p:cNvPr id="9" name="Text 7"/>
          <p:cNvSpPr/>
          <p:nvPr/>
        </p:nvSpPr>
        <p:spPr>
          <a:xfrm>
            <a:off x="1124712" y="5751576"/>
            <a:ext cx="10198303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4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  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B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well-built, non-discount, community-flavoured programme is a differentiator none of DailyObjects’ premium peers have taken.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DailyObjects · Loyalty Strategy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07743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566928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OMNICHANNEL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" y="914400"/>
            <a:ext cx="104543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identity, everywhere — the real moat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68680" y="1965960"/>
            <a:ext cx="9692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website plus an app is not omnichannel. Genuine omnichannel = the same recognised person, the same balance and status, in real time, across app, web and store.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68680" y="3063240"/>
            <a:ext cx="10454335" cy="0"/>
          </a:xfrm>
          <a:prstGeom prst="line">
            <a:avLst/>
          </a:prstGeom>
          <a:noFill/>
          <a:ln w="12700">
            <a:solidFill>
              <a:srgbClr val="E4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3346704"/>
            <a:ext cx="100584" cy="100584"/>
          </a:xfrm>
          <a:prstGeom prst="ellipse">
            <a:avLst/>
          </a:prstGeom>
          <a:solidFill>
            <a:srgbClr val="B45F3B"/>
          </a:solidFill>
          <a:ln/>
        </p:spPr>
      </p:sp>
      <p:sp>
        <p:nvSpPr>
          <p:cNvPr id="7" name="Text 5"/>
          <p:cNvSpPr/>
          <p:nvPr/>
        </p:nvSpPr>
        <p:spPr>
          <a:xfrm>
            <a:off x="1124712" y="3255264"/>
            <a:ext cx="10198303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Sephora  </a:t>
            </a:r>
            <a:pPr indent="0" marL="0">
              <a:buNone/>
            </a:pPr>
            <a:r>
              <a:rPr lang="en-US" sz="130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~80% of transactions tied to one member ID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68680" y="3895344"/>
            <a:ext cx="100584" cy="100584"/>
          </a:xfrm>
          <a:prstGeom prst="ellipse">
            <a:avLst/>
          </a:prstGeom>
          <a:solidFill>
            <a:srgbClr val="B45F3B"/>
          </a:solidFill>
          <a:ln/>
        </p:spPr>
      </p:sp>
      <p:sp>
        <p:nvSpPr>
          <p:cNvPr id="9" name="Text 7"/>
          <p:cNvSpPr/>
          <p:nvPr/>
        </p:nvSpPr>
        <p:spPr>
          <a:xfrm>
            <a:off x="1124712" y="3803904"/>
            <a:ext cx="10198303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Decathlon  </a:t>
            </a:r>
            <a:pPr indent="0" marL="0">
              <a:buNone/>
            </a:pPr>
            <a:r>
              <a:rPr lang="en-US" sz="130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 members ≈ 52% of revenue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68680" y="4443984"/>
            <a:ext cx="100584" cy="100584"/>
          </a:xfrm>
          <a:prstGeom prst="ellipse">
            <a:avLst/>
          </a:prstGeom>
          <a:solidFill>
            <a:srgbClr val="B45F3B"/>
          </a:solidFill>
          <a:ln/>
        </p:spPr>
      </p:sp>
      <p:sp>
        <p:nvSpPr>
          <p:cNvPr id="11" name="Text 9"/>
          <p:cNvSpPr/>
          <p:nvPr/>
        </p:nvSpPr>
        <p:spPr>
          <a:xfrm>
            <a:off x="1124712" y="4352544"/>
            <a:ext cx="10198303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Neu  </a:t>
            </a:r>
            <a:pPr indent="0" marL="0">
              <a:buNone/>
            </a:pPr>
            <a:r>
              <a:rPr lang="en-US" sz="130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currency without integration — the cautionary tale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68680" y="5843016"/>
            <a:ext cx="109728" cy="109728"/>
          </a:xfrm>
          <a:prstGeom prst="ellipse">
            <a:avLst/>
          </a:prstGeom>
          <a:solidFill>
            <a:srgbClr val="B45F3B"/>
          </a:solidFill>
          <a:ln/>
        </p:spPr>
      </p:sp>
      <p:sp>
        <p:nvSpPr>
          <p:cNvPr id="13" name="Text 11"/>
          <p:cNvSpPr/>
          <p:nvPr/>
        </p:nvSpPr>
        <p:spPr>
          <a:xfrm>
            <a:off x="1124712" y="5751576"/>
            <a:ext cx="10198303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4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  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B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DailyObjects, a phone-number identity recognised in all 150 stores is the single most important build — and a moat most D2C loyalty never gets.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6868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DailyObjects · Loyalty Strategy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7743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566928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FAILS, AND WHY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" y="914400"/>
            <a:ext cx="104543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loyalty programmes die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68680" y="2011680"/>
            <a:ext cx="317997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’23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68680" y="2395728"/>
            <a:ext cx="31799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status feel bought, not earned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05858" y="2011680"/>
            <a:ext cx="317997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Starbucks ’16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05858" y="2395728"/>
            <a:ext cx="31799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spend-based earning punished frequent buyers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143037" y="2011680"/>
            <a:ext cx="317997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Air Miles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143037" y="2395728"/>
            <a:ext cx="31799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 expiry to harvest breakage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3383280"/>
            <a:ext cx="317997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Marriott/SPG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68680" y="3767328"/>
            <a:ext cx="31799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devaluation + a migration meltdown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05858" y="3383280"/>
            <a:ext cx="317997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Subway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05858" y="3767328"/>
            <a:ext cx="31799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stamps killed by fraud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143037" y="3383280"/>
            <a:ext cx="317997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JCPenney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143037" y="3767328"/>
            <a:ext cx="31799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killed coupons cold-turkey; sales −32%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68680" y="5843016"/>
            <a:ext cx="109728" cy="109728"/>
          </a:xfrm>
          <a:prstGeom prst="ellipse">
            <a:avLst/>
          </a:prstGeom>
          <a:solidFill>
            <a:srgbClr val="B45F3B"/>
          </a:solidFill>
          <a:ln/>
        </p:spPr>
      </p:sp>
      <p:sp>
        <p:nvSpPr>
          <p:cNvPr id="17" name="Text 15"/>
          <p:cNvSpPr/>
          <p:nvPr/>
        </p:nvSpPr>
        <p:spPr>
          <a:xfrm>
            <a:off x="1124712" y="5751576"/>
            <a:ext cx="10198303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4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  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B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Guardrails: never devalue without notice · model changes by cohort first · activity-based expiry, auto-migrate balances · one simple currency · keep a free base tier.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868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DailyObjects · Loyalty Strategy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07743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566928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PSYCHOLOGY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" y="914400"/>
            <a:ext cx="104543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with the biases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68680" y="2011680"/>
            <a:ext cx="317997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Goal-gradient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68680" y="2359152"/>
            <a:ext cx="317997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buy faster near a reward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8680" y="2834640"/>
            <a:ext cx="317997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4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pPr indent="0" marL="0">
              <a:buNone/>
            </a:pPr>
            <a:r>
              <a:rPr lang="en-US" sz="115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 live progress bar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505858" y="2011680"/>
            <a:ext cx="317997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Endowed progress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05858" y="2359152"/>
            <a:ext cx="317997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head-start lifts completion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05858" y="2834640"/>
            <a:ext cx="317997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4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pPr indent="0" marL="0">
              <a:buNone/>
            </a:pPr>
            <a:r>
              <a:rPr lang="en-US" sz="115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 at ~20% with a reason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143037" y="2011680"/>
            <a:ext cx="317997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Loss aversion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143037" y="2359152"/>
            <a:ext cx="317997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losing hurts ~2× as much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143037" y="2834640"/>
            <a:ext cx="317997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4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pPr indent="0" marL="0">
              <a:buNone/>
            </a:pPr>
            <a:r>
              <a:rPr lang="en-US" sz="115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earned status &amp; balances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68680" y="3657600"/>
            <a:ext cx="317997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Status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4005072"/>
            <a:ext cx="317997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a badge drives effort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68680" y="4480560"/>
            <a:ext cx="317997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4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pPr indent="0" marL="0">
              <a:buNone/>
            </a:pPr>
            <a:r>
              <a:rPr lang="en-US" sz="115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tiers, “member since”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05858" y="3657600"/>
            <a:ext cx="317997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Reciprocity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05858" y="4005072"/>
            <a:ext cx="317997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fair gift earns goodwill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05858" y="4480560"/>
            <a:ext cx="317997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4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pPr indent="0" marL="0">
              <a:buNone/>
            </a:pPr>
            <a:r>
              <a:rPr lang="en-US" sz="115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surprise-and-delight beats a coupon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143037" y="3657600"/>
            <a:ext cx="317997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Right to indulge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143037" y="4005072"/>
            <a:ext cx="317997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wants a hedonic reward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143037" y="4480560"/>
            <a:ext cx="317997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4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pPr indent="0" marL="0">
              <a:buNone/>
            </a:pPr>
            <a:r>
              <a:rPr lang="en-US" sz="115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tier = product, not % off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6868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DailyObjects · Loyalty Strategy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7743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1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1828800"/>
            <a:ext cx="3657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2E33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868680" y="37947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DailyObjects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68680" y="46634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read, and the whitespace only DailyObjects can take.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566928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ALL MEANS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" y="914400"/>
            <a:ext cx="104543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honest read for DailyObjects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68680" y="1965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5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371600" y="1947672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Mid-premium, medium-frequency, gift-heavy, going omnichannel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46520" y="1965960"/>
            <a:ext cx="487649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job is 1st→2nd purchase, cross-category and the new-phone spike — not daily frequency.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68680" y="2807208"/>
            <a:ext cx="10454335" cy="0"/>
          </a:xfrm>
          <a:prstGeom prst="line">
            <a:avLst/>
          </a:prstGeom>
          <a:noFill/>
          <a:ln w="12700">
            <a:solidFill>
              <a:srgbClr val="E4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8986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5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71600" y="2880360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Don’t lead with discounts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446520" y="2898648"/>
            <a:ext cx="487649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are a rebate; if used, wrap them in status, exclusives and community, and let them buy product, not cash.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68680" y="3739896"/>
            <a:ext cx="10454335" cy="0"/>
          </a:xfrm>
          <a:prstGeom prst="line">
            <a:avLst/>
          </a:prstGeom>
          <a:noFill/>
          <a:ln w="12700">
            <a:solidFill>
              <a:srgbClr val="E4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83133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5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371600" y="3813048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data prize is in-store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46520" y="3831336"/>
            <a:ext cx="487649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capture online accounts; the identity win is the 150 stores + preference enrichment.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68680" y="4672584"/>
            <a:ext cx="10454335" cy="0"/>
          </a:xfrm>
          <a:prstGeom prst="line">
            <a:avLst/>
          </a:prstGeom>
          <a:noFill/>
          <a:ln w="12700">
            <a:solidFill>
              <a:srgbClr val="E4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47640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5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4745736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reward is real COGS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446520" y="4764024"/>
            <a:ext cx="487649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perishable rooms or free digital drops — lean on zero-cost recognition and access, fund from margin.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68680" y="5605272"/>
            <a:ext cx="10454335" cy="0"/>
          </a:xfrm>
          <a:prstGeom prst="line">
            <a:avLst/>
          </a:prstGeom>
          <a:noFill/>
          <a:ln w="12700">
            <a:solidFill>
              <a:srgbClr val="E4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DailyObjects · Loyalty Strategy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07743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566928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WHITESPACE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" y="914400"/>
            <a:ext cx="104543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1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bets only DailyObjects can make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68680" y="20574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280160" y="2075688"/>
            <a:ext cx="45413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collection identity — reward taste, member colourways, co-creation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370168" y="20574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781648" y="2075688"/>
            <a:ext cx="45413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completion — gamify the modular “Stack”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68680" y="2807208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2825496"/>
            <a:ext cx="45413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Device-lifecycle — own the new-phone spike, trade-in old cases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370168" y="2807208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781648" y="2825496"/>
            <a:ext cx="45413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Gifting engine — credits, gift-back, occasion reminders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68680" y="3557016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3575304"/>
            <a:ext cx="45413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 community — UGC, contests, member-designed products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370168" y="3557016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781648" y="3575304"/>
            <a:ext cx="45413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Sustainability as currency — reward recycling &amp; trade-in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68680" y="430682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4325112"/>
            <a:ext cx="45413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3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Omnichannel-native — store-recognised membership from day one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6868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DailyObjects · Loyalty Strategy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07743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1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2057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B4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BOTTOM LINE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68680" y="2606040"/>
            <a:ext cx="102412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 with recognition, access and design identity — not discounts.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68680" y="443484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i="1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what fits a design-led, mid-premium brand — and what its competitors have left on the table.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68680" y="5760720"/>
            <a:ext cx="128016" cy="128016"/>
          </a:xfrm>
          <a:prstGeom prst="ellipse">
            <a:avLst/>
          </a:prstGeom>
          <a:solidFill>
            <a:srgbClr val="B45F3B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56875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DailyObjects · Loyalty Strategy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DailyObjects Loyalty Strategy</dc:creator>
  <cp:lastModifiedBy>DailyObjects Loyalty Strategy</cp:lastModifiedBy>
  <cp:revision>1</cp:revision>
  <dcterms:created xsi:type="dcterms:W3CDTF">2026-08-20T08:58:54Z</dcterms:created>
  <dcterms:modified xsi:type="dcterms:W3CDTF">2026-08-20T08:58:54Z</dcterms:modified>
</cp:coreProperties>
</file>