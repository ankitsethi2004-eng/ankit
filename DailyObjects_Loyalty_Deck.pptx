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The engagement: design DailyObjects' future loyalty programme, grounded in benchmarking and consumer science. This deck tells the strategic story; the companion Word document holds the full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 answer. Situation → learning → recommendation → proof. The rest of the deck substantiates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Frames the job-to-be-done: convert 1st→2nd, cross-category, own device-lifecycle and gifting spikes.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cross-sector lessons that shape the DailyObjects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sectors chosen to separate universal mechanics from category-specific ones. Section I is the direct comparable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map. Premium brands that build durable margin-safe loyalty reward access/status/community — and most direct peers run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Sephora Beauty Insider — Tiers + a redemption marketplace priced above cash steer members to brand-enhancing rewards, protecting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Starbucks Rewards — Prepaid + points create float &amp; breakage — but devaluation is a real reputational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Amazon Prime — A paid tier works only when value visibly dwarfs the fee and bundles convenience +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Marriott Bonvoy — Experiential, money-can't-buy rewards let a premium brand reward loyalty without markdowns.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American Express Platinum — Bundle many small use-it-or-lose-it benefits so members engage monthly to justify the 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Nike Membership + Run Club — A free membership can drive loyalty entirely on access + content + community — margin-safe.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Lululemon Essentials — Service benefits + community can BE the whole programme — reinforcing a quality positioning.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Diptyque &amp; MUJI — For premium brands, loyalty = gifts, samples, service and access — never discounts.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portable Indian tactics: engagement earning, birthday moments, rolling expiry, product redemption, experiences, obvious-ROI paid 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strategic gift: DailyObjects can take a position its direct competitors have left empty.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programmes deliver on 8 dimensions; premium ones over-index on the emotional/experiential/status/community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2×2 by defensibility. DailyObjects should build up-and-right (status, community, experience); discounts sit bottom-right — avoid as the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DailyObjects' 150-store future makes phone-number identity recognised in every store the single most important build — and a durable moat.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pattern: optimise the liability at the expense of the promise, and change abruptly. All avoidable.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governance discipline that would have prevented Delta, Tesco, Marriott, Air Miles and Walgreens.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evidence-based principles (Kivetz, Nunes &amp; Drèze, Kahneman) and their direct design implications.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brand that the programme must fit: medium-frequency, identity-driven, gift-heavy, ecosystem-building, going omnichannel.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programme, differentiated benefits &amp; MoEngage journeys by segment. Not everyone gets the same offer.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Positions no benchmark owns: modular-ecosystem loyalty, device-lifecycle, gifting, creator community, sustainability, omnichannel-native.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standalone concepts are the building blocks; Concept 5 combines them, sequenced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Scored on 14 weighted dimensions (abridged here). Hybrid 4.6/5; paid &amp; community are its later layers; pure points weakest.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hero slide. Free tiered omnichannel membership now; paid + creator ecosystem later. Lead with recognition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Rolling-12-month qualification; thresholds calibrated post-launch on real distribution. Count last-12-mo history at launch so loyal customers start recognised.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five attack enrolment→activation and 1st→2nd purchase, are margin-safe/on-brand/fast. Hold paid &amp; heavy experiences until the base proves incrementality.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lifecycle stage maps a customer action to a loyalty response, a CRM trigger, and a business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Loyalty events fire MoEngage journeys; WhatsApp-led in India; personalised by segment/RFM/device/category.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 the loyalty engine; build the identity/CDP discipline. Phone number is the omnichannel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that matters most: holdouts turn correlation into causal, decision-grade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Plus geo/store pilots and segment experiments. The holdout is the backbone of every incrementality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Phased so DailyObjects learns before it scales; each phase gated by the prior phase's experiment 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Decisive recommendation, phased, measurable, and defensible.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B"/>
          </a:solidFill>
          <a:ln/>
        </p:spPr>
      </p:sp>
      <p:sp>
        <p:nvSpPr>
          <p:cNvPr id="3" name="Shape 1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2A2E40"/>
          </a:solidFill>
          <a:ln/>
        </p:spPr>
      </p:sp>
      <p:sp>
        <p:nvSpPr>
          <p:cNvPr id="4" name="Shape 2"/>
          <p:cNvSpPr/>
          <p:nvPr/>
        </p:nvSpPr>
        <p:spPr>
          <a:xfrm>
            <a:off x="9905695" y="-822960"/>
            <a:ext cx="2743200" cy="2743200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STRATEGY &amp; RESEARCH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148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DailyObjects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Programme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DailyObjects should build, why, and what to test before scaling — from 30+ programmes, 9 sectors, failure cases and consumer science.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strategy deck  ·  August 2026  ·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free, tiered, omnichannel membership — built on recognition, not discounts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58720" cy="3931920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04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04665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DailyObjects: design-led, mass-premium accessories. 2M+ customers, ~₹220 Cr FY26 → ₹400 Cr FY27 target, scaling 13 → 150+ stores. Already runs a flat, voucher-style points programme — undifferentiated.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9968" y="1828800"/>
            <a:ext cx="2558720" cy="3931920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6000" y="2103120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11" name="Text 9"/>
          <p:cNvSpPr/>
          <p:nvPr/>
        </p:nvSpPr>
        <p:spPr>
          <a:xfrm>
            <a:off x="3656000" y="2103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6000" y="2606040"/>
            <a:ext cx="204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6000" y="3063240"/>
            <a:ext cx="204665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premium programmes win on access, status, service, community and experience — not price (Diptyque, Nike, Lululemon, Sephora). Most global accessory peers run no programme at all.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3008" y="1828800"/>
            <a:ext cx="2558720" cy="3931920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89040" y="2103120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16" name="Text 14"/>
          <p:cNvSpPr/>
          <p:nvPr/>
        </p:nvSpPr>
        <p:spPr>
          <a:xfrm>
            <a:off x="6489040" y="2103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89040" y="2606040"/>
            <a:ext cx="204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89040" y="3063240"/>
            <a:ext cx="204665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Relaunch as "DO Circle": 3 free tiers on one phone-number identity across web, app and 150 stores; reward the behaviours that matter; add a paid DO+ upgrade later.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66047" y="1828800"/>
            <a:ext cx="2558720" cy="3931920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2079" y="2103120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21" name="Text 19"/>
          <p:cNvSpPr/>
          <p:nvPr/>
        </p:nvSpPr>
        <p:spPr>
          <a:xfrm>
            <a:off x="9322079" y="2103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2079" y="2606040"/>
            <a:ext cx="204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2079" y="3063240"/>
            <a:ext cx="204665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incrementality with a 5–10% holdout from day one. North-star: incremental contribution margin per member vs holdout + 90-day repeat-rate lift.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is the highest-leverage growth move DailyObjects can make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558720" cy="1828800"/>
          </a:xfrm>
          <a:prstGeom prst="roundRect">
            <a:avLst>
              <a:gd name="adj" fmla="val 45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130552"/>
            <a:ext cx="219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68096" y="2926080"/>
            <a:ext cx="2156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growth — retention now compounds faster than acquisition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9968" y="1874520"/>
            <a:ext cx="2558720" cy="1828800"/>
          </a:xfrm>
          <a:prstGeom prst="roundRect">
            <a:avLst>
              <a:gd name="adj" fmla="val 45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82848" y="2130552"/>
            <a:ext cx="219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40–50%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01136" y="2926080"/>
            <a:ext cx="2156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expected offline in 5 yrs — a unified identity is essential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58720" cy="1828800"/>
          </a:xfrm>
          <a:prstGeom prst="roundRect">
            <a:avLst>
              <a:gd name="adj" fmla="val 45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15888" y="2130552"/>
            <a:ext cx="219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34176" y="2926080"/>
            <a:ext cx="2156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already transacted — a first-party asset waiting to be activated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66047" y="1874520"/>
            <a:ext cx="2558720" cy="1828800"/>
          </a:xfrm>
          <a:prstGeom prst="roundRect">
            <a:avLst>
              <a:gd name="adj" fmla="val 45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48927" y="2130552"/>
            <a:ext cx="219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67215" y="2926080"/>
            <a:ext cx="2156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lift → 25–95% profit uplift (Bain/HBR) — the economic prize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023360"/>
            <a:ext cx="11057839" cy="1874520"/>
          </a:xfrm>
          <a:prstGeom prst="roundRect">
            <a:avLst>
              <a:gd name="adj" fmla="val 4390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42245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behavioural problem to solve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" y="4617720"/>
            <a:ext cx="1041775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→ second purchase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biggest drop-off.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Case-buyers must be moved into the ecosystem (MagSafe "Stack") and across categories (bags, desk, travel).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new-phone window and gifting are predictable, ownable spikes.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is the mechanism that turns a one-off case sale into a lifetime relationship.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THE MARKET TAUGHT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world’s best programmes teach a design-led brand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57839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075688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44168" y="200253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Discounting is optional — often wrong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21808" y="2002536"/>
            <a:ext cx="60286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Diptyque, Nike, Lululemon build loyalty on access, service, gifting and community. Zero markdowns, deep loyalty.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715768"/>
            <a:ext cx="11057839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95528" y="2916936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29169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44168" y="284378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mechanics to the brand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21808" y="2843784"/>
            <a:ext cx="60286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MUJI runs a quiet minimalist programme; Starbucks runs loud gamification. Pick the register that fits DailyObjects.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557016"/>
            <a:ext cx="11057839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" y="3758184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758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44168" y="368503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prize is data, not points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1808" y="3685032"/>
            <a:ext cx="60286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Sephora members ≈ 80% of transactions; Nike ~400M members. Identity + personalisation, not the liability.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398264"/>
            <a:ext cx="11057839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5528" y="4599432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4599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44168" y="45262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engagement, not just spend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21808" y="4526280"/>
            <a:ext cx="60286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Myntra, Decathlon reward reviews/UGC/referrals — cheap, on-brand, fuels content for a visual category.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9512"/>
            <a:ext cx="11057839" cy="731520"/>
          </a:xfrm>
          <a:prstGeom prst="roundRect">
            <a:avLst>
              <a:gd name="adj" fmla="val 1125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" y="5440680"/>
            <a:ext cx="310896" cy="310896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5440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44168" y="53675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In-category, the whitespace is wide open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21808" y="5367528"/>
            <a:ext cx="60286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Casetify &amp; Mokobara prove tiers + warranty + paid work; most global peers (Bellroy, Peak Design, Nomad) run nothing.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480560"/>
            <a:ext cx="3840480" cy="3840480"/>
          </a:xfrm>
          <a:prstGeom prst="ellipse">
            <a:avLst/>
          </a:prstGeom>
          <a:solidFill>
            <a:srgbClr val="2A2E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2194560" cy="2194560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benchmarks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9776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programmes across nine sectors — and what each teaches an accessories brand.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UNIVERSE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looked far beyond retail — nine sectors, thirty programmes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975104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Premium beauty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" y="2304288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Sephora · Ulta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8096" y="2651760"/>
            <a:ext cx="310073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status + redemption marketplace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4314" y="1828800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45482" y="1975104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Fashion / lifestyle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45482" y="2304288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Nike · Lululemon · H&amp;M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45482" y="2651760"/>
            <a:ext cx="310073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membership, community, drops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1701" y="1828800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2869" y="1975104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Premium / luxury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22869" y="2304288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Diptyque · MUJI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22869" y="2651760"/>
            <a:ext cx="310073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without discounting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410712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" y="3557016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Habitual F&amp;B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8096" y="3886200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Starbucks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68096" y="4233672"/>
            <a:ext cx="310073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Gamification, app-led, float &amp; breakage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4314" y="3410712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45482" y="3557016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Travel / hospitality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45482" y="3886200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Marriott Bonvoy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45482" y="4233672"/>
            <a:ext cx="310073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chase, experiential rewards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21701" y="3410712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22869" y="3557016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Financial services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22869" y="3886200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Amex Platinum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22869" y="4233672"/>
            <a:ext cx="310073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membership, credit stack, lock-in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992624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8096" y="5138928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E-commerce platforms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68096" y="5468112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· Myntra · Tata Neu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68096" y="5815584"/>
            <a:ext cx="310073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vs free, convenience, coalition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44314" y="4992624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45482" y="5138928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Sports / community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45482" y="5468112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Nike Run Club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45482" y="5815584"/>
            <a:ext cx="310073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Non-transactional identity &amp; belonging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21701" y="4992624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22869" y="5138928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Accessories / tech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322869" y="5468112"/>
            <a:ext cx="3100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Casetify · Mokobara · Anker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322869" y="5815584"/>
            <a:ext cx="310073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 comparable set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benchmark matrix — who does what</a:t>
            </a:r>
            <a:endParaRPr lang="en-US" sz="3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143000"/>
                <a:gridCol w="566928"/>
                <a:gridCol w="566928"/>
                <a:gridCol w="566928"/>
                <a:gridCol w="640080"/>
                <a:gridCol w="640080"/>
                <a:gridCol w="5333695"/>
              </a:tblGrid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Omni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lesson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Sephora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Redemption priced above cash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Starbucks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F&amp;B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gamification + 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Prime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at ~10×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Marriott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chase + experiences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Amex Platinum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Use-it-or-lose-it credits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+ community, no discount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Lululemon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Athleisure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+ community IS the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Diptyque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Gifts/samples, zero discount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Myntra Insider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engagement; members' 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Nykaa Prive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Birthday-month multipliers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Neu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activity-based expiry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Casetify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Tiers + birthday + warranty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Mokobara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Luggage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Sale-proof discount + warranty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7D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Bellroy / Peak Design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acc.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7D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programme — whitespace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26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DailyObjects (today)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6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6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6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6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6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6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26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points — upgrade this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strong · ~ = partial · – = none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BEAUTY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Sephora Beauty Insider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200400" cy="3977640"/>
          </a:xfrm>
          <a:prstGeom prst="roundRect">
            <a:avLst>
              <a:gd name="adj" fmla="val 2571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148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95528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Sephora transactions come from members — the data prize, not the discount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41648" y="1828800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42816" y="19202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47688" y="1920240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3-tier: Insider / VIB ($350) / Rouge ($1,000), 1pt per $1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41648" y="2578608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42816" y="267004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47688" y="2670048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Bazaar — points buy product/experiences priced 2–6¢ (above cash)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41648" y="3328416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42816" y="34198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47688" y="3419856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Insider Community forum turns transactions into identity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41648" y="4096512"/>
            <a:ext cx="7583119" cy="868680"/>
          </a:xfrm>
          <a:prstGeom prst="roundRect">
            <a:avLst>
              <a:gd name="adj" fmla="val 9474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70248" y="4187952"/>
            <a:ext cx="712591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DailyObjects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+ a redemption marketplace priced above cash steer members to brand-enhancing rewards, protecting margin.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HABITUAL F&amp;B · APP-LED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Starbucks Rewards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200400" cy="3977640"/>
          </a:xfrm>
          <a:prstGeom prst="roundRect">
            <a:avLst>
              <a:gd name="adj" fmla="val 2571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148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$1.85B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95528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stored-value float + ~$207M breakage revenue (2024) — loyalty as a financial asset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41648" y="1828800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42816" y="19202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47688" y="1920240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"Stars"; 2026 tiers Green / Gold / Reserve with step-up earn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41648" y="2578608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42816" y="267004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47688" y="2670048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Order &amp; Pay — loyalty IS the ordering channel; games &amp; drops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41648" y="3328416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42816" y="34198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47688" y="3419856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caps/expiry sparked backlash — don't change rules on loyal members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41648" y="4096512"/>
            <a:ext cx="7583119" cy="868680"/>
          </a:xfrm>
          <a:prstGeom prst="roundRect">
            <a:avLst>
              <a:gd name="adj" fmla="val 9474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70248" y="4187952"/>
            <a:ext cx="712591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DailyObjects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+ points create float &amp; breakage — but devaluation is a real reputational risk.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· PAID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Prime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200400" cy="3977640"/>
          </a:xfrm>
          <a:prstGeom prst="roundRect">
            <a:avLst>
              <a:gd name="adj" fmla="val 2571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148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~10×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95528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value ($1,437) vs the $139 fee — why the paid model holds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41648" y="1828800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42816" y="19202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47688" y="1920240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paid membership, no points; $139/yr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41648" y="2578608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42816" y="267004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47688" y="2670048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(shipping) + content (Video/Music) so cancelling = loss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41648" y="3328416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42816" y="34198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47688" y="3419856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200M+ members; $49.6B subscription segment FY25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41648" y="4096512"/>
            <a:ext cx="7583119" cy="868680"/>
          </a:xfrm>
          <a:prstGeom prst="roundRect">
            <a:avLst>
              <a:gd name="adj" fmla="val 9474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70248" y="4187952"/>
            <a:ext cx="712591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DailyObjects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tier works only when value visibly dwarfs the fee and bundles convenience + content.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· HOSPITALITY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Marriott Bonvoy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200400" cy="3977640"/>
          </a:xfrm>
          <a:prstGeom prst="roundRect">
            <a:avLst>
              <a:gd name="adj" fmla="val 2571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148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95528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in "Bonvoy Moments" — rewarding loyalty without discounting rate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41648" y="1828800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42816" y="19202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47688" y="1920240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Free; status by nights: Silver → Titanium → Ambassador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41648" y="2578608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42816" y="267004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47688" y="2670048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currency + transfer to ~40 airlines + partners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41648" y="3328416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42816" y="34198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47688" y="3419856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ladder creates an aspirational "chase"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41648" y="4096512"/>
            <a:ext cx="7583119" cy="868680"/>
          </a:xfrm>
          <a:prstGeom prst="roundRect">
            <a:avLst>
              <a:gd name="adj" fmla="val 9474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70248" y="4187952"/>
            <a:ext cx="712591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DailyObjects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Experiential, money-can't-buy rewards let a premium brand reward loyalty without markdowns.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· PAID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 Express Platinum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200400" cy="3977640"/>
          </a:xfrm>
          <a:prstGeom prst="roundRect">
            <a:avLst>
              <a:gd name="adj" fmla="val 2571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148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$3,500+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95528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benefit value vs an $895 fee — engagement engineered as retention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41648" y="1828800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42816" y="19202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47688" y="1920240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card; transferable Membership Rewards points, no tiers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41648" y="2578608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42816" y="267004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47688" y="2670048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"Coupon-book" of use-it-or-lose-it monthly credits + 1,550 lounges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41648" y="3328416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42816" y="34198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47688" y="3419856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transfers are final → structural switching cost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41648" y="4096512"/>
            <a:ext cx="7583119" cy="868680"/>
          </a:xfrm>
          <a:prstGeom prst="roundRect">
            <a:avLst>
              <a:gd name="adj" fmla="val 9474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70248" y="4187952"/>
            <a:ext cx="712591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DailyObjects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many small use-it-or-lose-it benefits so members engage monthly to justify the fee.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SPORTSWEAR · COMMUNITY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Nike Membership + Run Club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200400" cy="3977640"/>
          </a:xfrm>
          <a:prstGeom prst="roundRect">
            <a:avLst>
              <a:gd name="adj" fmla="val 2571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148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~400M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95528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by 2026 — loyalty via access, content and community, not points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41648" y="1828800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42816" y="19202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47688" y="1920240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binary membership; no points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41648" y="2578608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42816" y="267004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47688" y="2670048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SNKRS early/exclusive drops; free NRC/NTC apps; events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41648" y="3328416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42816" y="34198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47688" y="3419856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 margin + first-party data; scarcity drives desire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41648" y="4096512"/>
            <a:ext cx="7583119" cy="868680"/>
          </a:xfrm>
          <a:prstGeom prst="roundRect">
            <a:avLst>
              <a:gd name="adj" fmla="val 9474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70248" y="4187952"/>
            <a:ext cx="712591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DailyObjects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membership can drive loyalty entirely on access + content + community — margin-safe.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ATHLEISURE · PREMIUM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Lululemon Essentials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200400" cy="3977640"/>
          </a:xfrm>
          <a:prstGeom prst="roundRect">
            <a:avLst>
              <a:gd name="adj" fmla="val 2571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148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95528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— service + community are the entire value proposition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41648" y="1828800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42816" y="19202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47688" y="1920240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access-based, no points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41648" y="2578608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42816" y="267004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47688" y="2670048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hemming, easy/extended returns, community &amp; virtual events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41648" y="3328416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42816" y="34198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47688" y="3419856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closest philosophical analog for design-led accessories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41648" y="4096512"/>
            <a:ext cx="7583119" cy="868680"/>
          </a:xfrm>
          <a:prstGeom prst="roundRect">
            <a:avLst>
              <a:gd name="adj" fmla="val 9474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70248" y="4187952"/>
            <a:ext cx="712591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DailyObjects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benefits + community can BE the whole programme — reinforcing a quality positioning.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/ LUXURY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Diptyque &amp; MUJI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200400" cy="3977640"/>
          </a:xfrm>
          <a:prstGeom prst="roundRect">
            <a:avLst>
              <a:gd name="adj" fmla="val 2571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148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95528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— loyalty through gifting, sampling, service and restraint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41648" y="1828800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42816" y="19202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Diptyque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47688" y="1920240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gift + free sample with every fragrance; no markdowns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41648" y="2578608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42816" y="267004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47688" y="2670048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minimalist app; earn by shopping AND store check-in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41648" y="3328416"/>
            <a:ext cx="7583119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42816" y="34198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47688" y="3419856"/>
            <a:ext cx="4794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mechanics to the brand's aesthetic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41648" y="4096512"/>
            <a:ext cx="7583119" cy="868680"/>
          </a:xfrm>
          <a:prstGeom prst="roundRect">
            <a:avLst>
              <a:gd name="adj" fmla="val 9474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70248" y="4187952"/>
            <a:ext cx="712591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DailyObjects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premium brands, loyalty = gifts, samples, service and access — never discounts.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INDIAN BENCHMARKS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India’s best programmes — the tactics that travel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0306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993392"/>
            <a:ext cx="31007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Myntra Insider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8096" y="2395728"/>
            <a:ext cx="31007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tiers via reviews, quizzes, referrals + a fixed monthly "Insider Day"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" y="3154680"/>
            <a:ext cx="310073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engagement, not just spend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4314" y="1828800"/>
            <a:ext cx="350306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45482" y="1993392"/>
            <a:ext cx="31007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Nykaa Prive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45482" y="2395728"/>
            <a:ext cx="31007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Birthday-month point multipliers (1.5×/2×/3×) + gifts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45482" y="3154680"/>
            <a:ext cx="310073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moments are cheap &amp; high-affinity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21701" y="1828800"/>
            <a:ext cx="350306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2869" y="1993392"/>
            <a:ext cx="31007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Neu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22869" y="2395728"/>
            <a:ext cx="31007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NeuCoins with rolling expiry — every earn/redeem resets the clock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2869" y="3154680"/>
            <a:ext cx="310073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lapse rare with activity-based expiry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867912"/>
            <a:ext cx="350306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" y="4032504"/>
            <a:ext cx="31007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Tira Treats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68096" y="4434840"/>
            <a:ext cx="31007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redeem for full-size aspirational product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" y="5193792"/>
            <a:ext cx="310073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points buy product, not just discount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4314" y="3867912"/>
            <a:ext cx="350306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45482" y="4032504"/>
            <a:ext cx="31007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Shoppers Stop Black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45482" y="4434840"/>
            <a:ext cx="31007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Golf, sailing, experiences at the paid top tier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45482" y="5193792"/>
            <a:ext cx="310073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perks sell belonging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21701" y="3867912"/>
            <a:ext cx="350306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22869" y="4032504"/>
            <a:ext cx="31007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Swiggy One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22869" y="4434840"/>
            <a:ext cx="31007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Free-delivery membership where the maths is self-evident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22869" y="5193792"/>
            <a:ext cx="310073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works when ROI is obvious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COMPARABLES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DailyObjects’ own category, the whitespace is wide open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WITH a real programme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Casetify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+ birthday gift + 12-mo VIP warranty — the direct template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26440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Mokobara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tier, 5% off even in sales, 6-yr warranty → 3× sales from members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10565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Bewakoof (TriBe)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paid tier framed on free shipping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94690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Anker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Credit→coupon ladder + Anker Plus ($15/yr)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828800"/>
            <a:ext cx="5479999" cy="4023360"/>
          </a:xfrm>
          <a:prstGeom prst="roundRect">
            <a:avLst>
              <a:gd name="adj" fmla="val 2045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peers with NO programme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520567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Bellroy · Peak Design · Nomad · Native Union · PopSockets · Fossil · Mous · Assembly · Uppercase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3657600"/>
            <a:ext cx="52056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cede loyalty to newsletters, bundles and warranty.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4343400"/>
            <a:ext cx="49679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thoughtful, community-flavoured, non-discount membership is a genuine differentiator for DailyObjects — not a me-too.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480560"/>
            <a:ext cx="3840480" cy="3840480"/>
          </a:xfrm>
          <a:prstGeom prst="ellipse">
            <a:avLst/>
          </a:prstGeom>
          <a:solidFill>
            <a:srgbClr val="2A2E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2194560" cy="2194560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great loyalty is made of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9776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kinds of value — and the ones premium brands over-index on.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SUCCESSFUL LOYALTY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8-Value Loyalty Framework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7243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29968"/>
            <a:ext cx="310896" cy="310896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029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2048256"/>
            <a:ext cx="1749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542032"/>
            <a:ext cx="21701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buying &amp; using easier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8096" y="3182112"/>
            <a:ext cx="2170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Lululemon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95396" y="1828800"/>
            <a:ext cx="257243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6564" y="2029968"/>
            <a:ext cx="310896" cy="310896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12" name="Text 10"/>
          <p:cNvSpPr/>
          <p:nvPr/>
        </p:nvSpPr>
        <p:spPr>
          <a:xfrm>
            <a:off x="3596564" y="2029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35476" y="2048256"/>
            <a:ext cx="1749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96564" y="2542032"/>
            <a:ext cx="21701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Believable financial worth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96564" y="3182112"/>
            <a:ext cx="2170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Ulta, H&amp;M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23864" y="1828800"/>
            <a:ext cx="2572436" cy="1737360"/>
          </a:xfrm>
          <a:prstGeom prst="roundRect">
            <a:avLst>
              <a:gd name="adj" fmla="val 4737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5032" y="2029968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18" name="Text 16"/>
          <p:cNvSpPr/>
          <p:nvPr/>
        </p:nvSpPr>
        <p:spPr>
          <a:xfrm>
            <a:off x="6425032" y="2029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63944" y="2048256"/>
            <a:ext cx="1749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25032" y="2542032"/>
            <a:ext cx="21701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Pride, delight, being seen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25032" y="3182112"/>
            <a:ext cx="2170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Diptyque, Nike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2331" y="1828800"/>
            <a:ext cx="2572436" cy="1737360"/>
          </a:xfrm>
          <a:prstGeom prst="roundRect">
            <a:avLst>
              <a:gd name="adj" fmla="val 4737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53499" y="2029968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24" name="Text 22"/>
          <p:cNvSpPr/>
          <p:nvPr/>
        </p:nvSpPr>
        <p:spPr>
          <a:xfrm>
            <a:off x="9253499" y="2029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92411" y="2048256"/>
            <a:ext cx="1749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Experiential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53499" y="2542032"/>
            <a:ext cx="21701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money can’t buy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53499" y="3182112"/>
            <a:ext cx="2170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Marriott, SNKRS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840480"/>
            <a:ext cx="2572436" cy="1737360"/>
          </a:xfrm>
          <a:prstGeom prst="roundRect">
            <a:avLst>
              <a:gd name="adj" fmla="val 4737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" y="4041648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4041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07008" y="4059936"/>
            <a:ext cx="1749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68096" y="4553712"/>
            <a:ext cx="21701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&amp; identity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8096" y="5193792"/>
            <a:ext cx="2170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Sephora Rouge, Amex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95396" y="3840480"/>
            <a:ext cx="2572436" cy="1737360"/>
          </a:xfrm>
          <a:prstGeom prst="roundRect">
            <a:avLst>
              <a:gd name="adj" fmla="val 4737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596564" y="4041648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36" name="Text 34"/>
          <p:cNvSpPr/>
          <p:nvPr/>
        </p:nvSpPr>
        <p:spPr>
          <a:xfrm>
            <a:off x="3596564" y="4041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035476" y="4059936"/>
            <a:ext cx="1749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3596564" y="4553712"/>
            <a:ext cx="21701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Belonging with people like me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596564" y="5193792"/>
            <a:ext cx="2170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Run Club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23864" y="3840480"/>
            <a:ext cx="257243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25032" y="4041648"/>
            <a:ext cx="310896" cy="310896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42" name="Text 40"/>
          <p:cNvSpPr/>
          <p:nvPr/>
        </p:nvSpPr>
        <p:spPr>
          <a:xfrm>
            <a:off x="6425032" y="4041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63944" y="4059936"/>
            <a:ext cx="1749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6425032" y="4553712"/>
            <a:ext cx="21701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even when not buying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25032" y="5193792"/>
            <a:ext cx="2170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Warranty, apps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052331" y="3840480"/>
            <a:ext cx="257243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253499" y="4041648"/>
            <a:ext cx="310896" cy="310896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48" name="Text 46"/>
          <p:cNvSpPr/>
          <p:nvPr/>
        </p:nvSpPr>
        <p:spPr>
          <a:xfrm>
            <a:off x="9253499" y="4041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692411" y="4059936"/>
            <a:ext cx="1749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9253499" y="4553712"/>
            <a:ext cx="21701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reason to engage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9253499" y="5193792"/>
            <a:ext cx="2170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Starbucks, Myntra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66928" y="594360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highlighted layers — emotional, experiential, status, community — are where premium brands build defensibility.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CHOICE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recognition and access — not price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49808" y="1783080"/>
            <a:ext cx="10692079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5848" y="1965960"/>
            <a:ext cx="0" cy="3566160"/>
          </a:xfrm>
          <a:prstGeom prst="line">
            <a:avLst/>
          </a:prstGeom>
          <a:noFill/>
          <a:ln w="19050">
            <a:solidFill>
              <a:srgbClr val="E3DBD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32688" y="3749040"/>
            <a:ext cx="10326319" cy="0"/>
          </a:xfrm>
          <a:prstGeom prst="line">
            <a:avLst/>
          </a:prstGeom>
          <a:noFill/>
          <a:ln w="19050">
            <a:solidFill>
              <a:srgbClr val="E3DBD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32688" y="1874520"/>
            <a:ext cx="103263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DEFENSIBILITY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32688" y="5394960"/>
            <a:ext cx="103263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DEFENSIBILITY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4128" y="2240280"/>
            <a:ext cx="479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&amp; access  ✓ BUILD ON THIS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9848" y="2651760"/>
            <a:ext cx="4705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drops, member colourways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&amp; recognition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Concierge, experiences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70168" y="2240280"/>
            <a:ext cx="479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&amp; experience  ✓ THE MOAT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15888" y="2651760"/>
            <a:ext cx="4705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society, UGC, events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Co-created products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Belonging &amp; identity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24128" y="4023360"/>
            <a:ext cx="479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&amp; convenience  ✓ TABLE STAKES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9848" y="4434840"/>
            <a:ext cx="4705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shipping, easy returns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/ protection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preferences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70168" y="4023360"/>
            <a:ext cx="479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5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Blanket discounts  ✗ AVOID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15888" y="4434840"/>
            <a:ext cx="4705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Sitewide coupons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markdowns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discount addiction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LOYALTY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identity, one wallet, everywhere — the real moat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Multichannel ≠ omnichannel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plus an app is not omnichannel. Genuine omnichannel = the same recognised person, same balance and status, in real time, across app, web, store POS and marketplace.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points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536" y="397764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Sephora — ~80% of transactions to one ID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Decathlon — identified members ≈ 52% of revenue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 — unified wallet = a financial asset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Neu — cautionary: currency without integration fails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27648" y="1783080"/>
            <a:ext cx="52971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capability stack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27648" y="2240280"/>
            <a:ext cx="5297119" cy="457200"/>
          </a:xfrm>
          <a:prstGeom prst="roundRect">
            <a:avLst>
              <a:gd name="adj" fmla="val 120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55664" y="2322576"/>
            <a:ext cx="292608" cy="292608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12" name="Text 10"/>
          <p:cNvSpPr/>
          <p:nvPr/>
        </p:nvSpPr>
        <p:spPr>
          <a:xfrm>
            <a:off x="6455664" y="2322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94576" y="2240280"/>
            <a:ext cx="4657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customer ID (single source of truth)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27648" y="2752344"/>
            <a:ext cx="5297119" cy="457200"/>
          </a:xfrm>
          <a:prstGeom prst="roundRect">
            <a:avLst>
              <a:gd name="adj" fmla="val 120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55664" y="2834640"/>
            <a:ext cx="292608" cy="292608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2834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94576" y="2752344"/>
            <a:ext cx="4657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 — phone-OTP + email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27648" y="3264408"/>
            <a:ext cx="5297119" cy="457200"/>
          </a:xfrm>
          <a:prstGeom prst="roundRect">
            <a:avLst>
              <a:gd name="adj" fmla="val 120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55664" y="3346704"/>
            <a:ext cx="292608" cy="292608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20" name="Text 18"/>
          <p:cNvSpPr/>
          <p:nvPr/>
        </p:nvSpPr>
        <p:spPr>
          <a:xfrm>
            <a:off x="6455664" y="3346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94576" y="3264408"/>
            <a:ext cx="4657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— one real-time profile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27648" y="3776472"/>
            <a:ext cx="5297119" cy="457200"/>
          </a:xfrm>
          <a:prstGeom prst="roundRect">
            <a:avLst>
              <a:gd name="adj" fmla="val 12000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55664" y="3858768"/>
            <a:ext cx="292608" cy="292608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24" name="Text 22"/>
          <p:cNvSpPr/>
          <p:nvPr/>
        </p:nvSpPr>
        <p:spPr>
          <a:xfrm>
            <a:off x="6455664" y="3858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94576" y="3776472"/>
            <a:ext cx="4657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wallet / points ledger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27648" y="4288536"/>
            <a:ext cx="529711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55664" y="4370832"/>
            <a:ext cx="292608" cy="292608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28" name="Text 26"/>
          <p:cNvSpPr/>
          <p:nvPr/>
        </p:nvSpPr>
        <p:spPr>
          <a:xfrm>
            <a:off x="6455664" y="4370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94576" y="4288536"/>
            <a:ext cx="4657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bidirectional POS integration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27648" y="4800600"/>
            <a:ext cx="529711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55664" y="4882896"/>
            <a:ext cx="292608" cy="292608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32" name="Text 30"/>
          <p:cNvSpPr/>
          <p:nvPr/>
        </p:nvSpPr>
        <p:spPr>
          <a:xfrm>
            <a:off x="6455664" y="48828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94576" y="4800600"/>
            <a:ext cx="4657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earn AND redeem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27648" y="5312664"/>
            <a:ext cx="529711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55664" y="5394960"/>
            <a:ext cx="292608" cy="292608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5394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94576" y="5312664"/>
            <a:ext cx="4657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&amp; orchestration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480560"/>
            <a:ext cx="3840480" cy="3840480"/>
          </a:xfrm>
          <a:prstGeom prst="ellipse">
            <a:avLst/>
          </a:prstGeom>
          <a:solidFill>
            <a:srgbClr val="2A2E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2194560" cy="2194560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destroys loyalty programmes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9776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cautionary cases — and the guardrails they hand DailyObjects.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 STUDIES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mistakes, again and again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1525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5681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5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 SkyMiles ’23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340864"/>
            <a:ext cx="31494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status feel bought, not earned; CEO: "went too far" → rolled back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38218" y="1828800"/>
            <a:ext cx="351525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1098" y="195681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5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Starbucks ’16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1098" y="2340864"/>
            <a:ext cx="31494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Visits→spend punished frequent low-spend buyers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09509" y="1828800"/>
            <a:ext cx="351525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92389" y="195681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5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Miles Canada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92389" y="2340864"/>
            <a:ext cx="31494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expiry to harvest breakage → class action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282696"/>
            <a:ext cx="351525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4107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5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Marriott + SPG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31494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Merger devalued points + IT meltdown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38218" y="3282696"/>
            <a:ext cx="351525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1098" y="34107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5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Subway Sub Club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21098" y="3794760"/>
            <a:ext cx="31494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stamps destroyed by counterfeit fraud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09509" y="3282696"/>
            <a:ext cx="351525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92389" y="34107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5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Buy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92389" y="3794760"/>
            <a:ext cx="31494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Salami-slice devaluations; rewards gated behind a card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736592"/>
            <a:ext cx="351525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" y="4864608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5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Tesco Clubcard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9808" y="5248656"/>
            <a:ext cx="31494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value with no notice → public backlash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38218" y="4736592"/>
            <a:ext cx="351525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21098" y="4864608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5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Plenti (Amex)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21098" y="5248656"/>
            <a:ext cx="31494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Coalition with no cross-shopping logic collapsed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09509" y="4736592"/>
            <a:ext cx="351525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92389" y="4864608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5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JCPenney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92389" y="5248656"/>
            <a:ext cx="31494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coupons cold-turkey → sales −31.7%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 &amp; ECONOMICS TRAPS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guardrails — engineered into DO Circle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917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975104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Abrupt devaluation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377440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give a redemption runway &amp; pre-announce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33008" y="1828800"/>
            <a:ext cx="53917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2464" y="1975104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Hurting best/frequent customers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52464" y="2377440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every change by cohort first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218688"/>
            <a:ext cx="53917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" y="3364992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Engineered breakage / expiry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" y="3767328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Activity-based expiry; auto-migrate balances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33008" y="3218688"/>
            <a:ext cx="53917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52464" y="3364992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Complexity &amp; no clear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52464" y="3767328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currency; simplicity over optionality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608576"/>
            <a:ext cx="53917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" y="4754880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Discount-addiction death spiral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" y="5157216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Points/status, not blanket coupons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33008" y="4608576"/>
            <a:ext cx="53917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52464" y="4754880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Manual-token fraud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52464" y="5157216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Account-bound, server-validated digital only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PSYCHOLOGY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with the biases — never against them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15258" cy="1737360"/>
          </a:xfrm>
          <a:prstGeom prst="roundRect">
            <a:avLst>
              <a:gd name="adj" fmla="val 4737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751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Goal-gradient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359152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buy faster near a reward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3127248"/>
            <a:ext cx="31494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live progress bar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38218" y="1828800"/>
            <a:ext cx="3515258" cy="1737360"/>
          </a:xfrm>
          <a:prstGeom prst="roundRect">
            <a:avLst>
              <a:gd name="adj" fmla="val 4737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1098" y="19751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Endowed progress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21098" y="2359152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head-start lifts completion — if a reason is given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1098" y="3127248"/>
            <a:ext cx="31494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at ~20% with a "welcome bonus"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9509" y="1828800"/>
            <a:ext cx="3515258" cy="1737360"/>
          </a:xfrm>
          <a:prstGeom prst="roundRect">
            <a:avLst>
              <a:gd name="adj" fmla="val 4737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92389" y="19751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aversion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2389" y="2359152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hurts ~2× as much as gaining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92389" y="3127248"/>
            <a:ext cx="31494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earned status &amp; balances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822192"/>
            <a:ext cx="3515258" cy="1737360"/>
          </a:xfrm>
          <a:prstGeom prst="roundRect">
            <a:avLst>
              <a:gd name="adj" fmla="val 4737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9684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&amp; recognition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352544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"meaningless" tiers drive engagement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5120640"/>
            <a:ext cx="31494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tiers, "member since"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38218" y="3822192"/>
            <a:ext cx="3515258" cy="1737360"/>
          </a:xfrm>
          <a:prstGeom prst="roundRect">
            <a:avLst>
              <a:gd name="adj" fmla="val 4737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1098" y="39684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 right to indulge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21098" y="4352544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makes people want hedonic rewards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1098" y="5120640"/>
            <a:ext cx="31494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Top-tier = aspirational product, not 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09509" y="3822192"/>
            <a:ext cx="3515258" cy="1737360"/>
          </a:xfrm>
          <a:prstGeom prst="roundRect">
            <a:avLst>
              <a:gd name="adj" fmla="val 4737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92389" y="39684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Breakage discipline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92389" y="4352544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profit from inaction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92389" y="5120640"/>
            <a:ext cx="31494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redemption; it deepens habit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371600"/>
            <a:ext cx="4206240" cy="4206240"/>
          </a:xfrm>
          <a:prstGeom prst="ellipse">
            <a:avLst/>
          </a:prstGeom>
          <a:solidFill>
            <a:srgbClr val="2A2E40"/>
          </a:solidFill>
          <a:ln/>
        </p:spPr>
      </p:sp>
      <p:sp>
        <p:nvSpPr>
          <p:cNvPr id="3" name="Shape 1"/>
          <p:cNvSpPr/>
          <p:nvPr/>
        </p:nvSpPr>
        <p:spPr>
          <a:xfrm>
            <a:off x="9905695" y="-640080"/>
            <a:ext cx="2560320" cy="2560320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DailyObjects programme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42976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evidence to design: the programme we would launch, and how.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BRAND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DailyObjects — a design-led brand going omnichannel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72436" cy="1600200"/>
          </a:xfrm>
          <a:prstGeom prst="roundRect">
            <a:avLst>
              <a:gd name="adj" fmla="val 5143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057400"/>
            <a:ext cx="22066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68096" y="2743200"/>
            <a:ext cx="21701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· 12M+ products sold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95396" y="1828800"/>
            <a:ext cx="2572436" cy="1600200"/>
          </a:xfrm>
          <a:prstGeom prst="roundRect">
            <a:avLst>
              <a:gd name="adj" fmla="val 5143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78276" y="2057400"/>
            <a:ext cx="22066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~₹220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96564" y="2743200"/>
            <a:ext cx="21701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FY26E → ₹400 Cr FY27 target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23864" y="1828800"/>
            <a:ext cx="2572436" cy="1600200"/>
          </a:xfrm>
          <a:prstGeom prst="roundRect">
            <a:avLst>
              <a:gd name="adj" fmla="val 5143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6744" y="2057400"/>
            <a:ext cx="22066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→ 150+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25032" y="2743200"/>
            <a:ext cx="21701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in 5 yrs; ~40–50% of revenue offline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331" y="1828800"/>
            <a:ext cx="2572436" cy="1600200"/>
          </a:xfrm>
          <a:prstGeom prst="roundRect">
            <a:avLst>
              <a:gd name="adj" fmla="val 5143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211" y="2057400"/>
            <a:ext cx="22066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53499" y="2743200"/>
            <a:ext cx="21701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options + custom + modular "Stack"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794760"/>
            <a:ext cx="11057839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&amp; segments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4343400"/>
            <a:ext cx="10509199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Mass-premium, design-led — "sells identity, not just protection."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Segments: Tech Enthusiasts · Urban Minimalists · Creative Professionals — Millennials &amp; Gen Z, metro, iPhone-skewed, aesthetics-driven.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cases (acquisition) → MagSafe/charging (ecosystem lock-in) → bags/desk/travel (AOV &amp; cross-category). Highly giftable. Made in India, plastic-free.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architecture, differentiated by segment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8615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75104"/>
            <a:ext cx="2220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/ first-time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542032"/>
            <a:ext cx="22203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2nd purchase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2926080"/>
            <a:ext cx="22203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bonus + cross-category sampler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0824" y="1828800"/>
            <a:ext cx="258615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73704" y="1975104"/>
            <a:ext cx="2220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(lapse risk)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73704" y="2542032"/>
            <a:ext cx="22203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lapse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73704" y="2926080"/>
            <a:ext cx="22203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incentive + expiry nudge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4720" y="1828800"/>
            <a:ext cx="258615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97600" y="1975104"/>
            <a:ext cx="2220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buyers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97600" y="2542032"/>
            <a:ext cx="22203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+ cross-cat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97600" y="2926080"/>
            <a:ext cx="22203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progress + "complete your Stack"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38615" y="1828800"/>
            <a:ext cx="258615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21495" y="1975104"/>
            <a:ext cx="2220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High-AOV / full-price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21495" y="2542032"/>
            <a:ext cx="22203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without discount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221495" y="2926080"/>
            <a:ext cx="22203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access, experiences, gifts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913632"/>
            <a:ext cx="258615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" y="4059936"/>
            <a:ext cx="2220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Discount-sensitive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4626864"/>
            <a:ext cx="22203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value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5010912"/>
            <a:ext cx="22203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+ free shipping, not deep 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90824" y="3913632"/>
            <a:ext cx="258615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73704" y="4059936"/>
            <a:ext cx="2220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Dormant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73704" y="4626864"/>
            <a:ext cx="22203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73704" y="5010912"/>
            <a:ext cx="22203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+ birthday + new-phone trigger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4720" y="3913632"/>
            <a:ext cx="2586152" cy="1828800"/>
          </a:xfrm>
          <a:prstGeom prst="roundRect">
            <a:avLst>
              <a:gd name="adj" fmla="val 4500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97600" y="4059936"/>
            <a:ext cx="2220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 (top ~5%)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97600" y="4626864"/>
            <a:ext cx="22203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&amp; delight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97600" y="5010912"/>
            <a:ext cx="22203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Concierge, custom design, protected status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38615" y="3913632"/>
            <a:ext cx="258615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21495" y="4059936"/>
            <a:ext cx="2220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loyalists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21495" y="4626864"/>
            <a:ext cx="22203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221495" y="5010912"/>
            <a:ext cx="22203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 credits into new categories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whitespace bets only DailyObjects can make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1525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29968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029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2029968"/>
            <a:ext cx="2692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collection identity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606040"/>
            <a:ext cx="311292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taste — "collect the drop," member colourways, co-create with artisans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8218" y="1828800"/>
            <a:ext cx="351525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9386" y="2029968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11" name="Text 9"/>
          <p:cNvSpPr/>
          <p:nvPr/>
        </p:nvSpPr>
        <p:spPr>
          <a:xfrm>
            <a:off x="4539386" y="2029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78298" y="2029968"/>
            <a:ext cx="2692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 completion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9386" y="2606040"/>
            <a:ext cx="311292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Gamify the MagSafe "Stack" — "complete your Stack" progress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9509" y="1828800"/>
            <a:ext cx="351525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10677" y="2029968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16" name="Text 14"/>
          <p:cNvSpPr/>
          <p:nvPr/>
        </p:nvSpPr>
        <p:spPr>
          <a:xfrm>
            <a:off x="8310677" y="2029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49589" y="2029968"/>
            <a:ext cx="2692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Device-lifecycle loyalty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10677" y="2606040"/>
            <a:ext cx="311292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new-phone spike — trade-in, "we remember your model," launch access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867912"/>
            <a:ext cx="351525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069080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069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07008" y="4069080"/>
            <a:ext cx="2692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Gifting engine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8096" y="4645152"/>
            <a:ext cx="311292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credits, gift-back, occasion reminders, premium member packaging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38218" y="3867912"/>
            <a:ext cx="351525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39386" y="4069080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26" name="Text 24"/>
          <p:cNvSpPr/>
          <p:nvPr/>
        </p:nvSpPr>
        <p:spPr>
          <a:xfrm>
            <a:off x="4539386" y="4069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78298" y="4069080"/>
            <a:ext cx="2692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 / community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39386" y="4645152"/>
            <a:ext cx="311292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UGC, design contests, creator collabs, member-designed products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9509" y="3867912"/>
            <a:ext cx="351525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10677" y="4069080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31" name="Text 29"/>
          <p:cNvSpPr/>
          <p:nvPr/>
        </p:nvSpPr>
        <p:spPr>
          <a:xfrm>
            <a:off x="8310677" y="4069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49589" y="4069080"/>
            <a:ext cx="2692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currency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10677" y="4645152"/>
            <a:ext cx="311292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recycling/trade-in — on-brand, emotional, differentiated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CONCEPTS CONSIDERED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pure points to a full hybrid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050633" cy="3840480"/>
          </a:xfrm>
          <a:prstGeom prst="roundRect">
            <a:avLst>
              <a:gd name="adj" fmla="val 4013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2075688"/>
            <a:ext cx="175802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DO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743200"/>
            <a:ext cx="175802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3108960"/>
            <a:ext cx="175802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→ credit. Simple but pure discount, low differentiation.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5212080"/>
            <a:ext cx="17580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18729" y="1874520"/>
            <a:ext cx="2050633" cy="3840480"/>
          </a:xfrm>
          <a:prstGeom prst="roundRect">
            <a:avLst>
              <a:gd name="adj" fmla="val 4013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65033" y="2075688"/>
            <a:ext cx="175802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DO Club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65033" y="2743200"/>
            <a:ext cx="175802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STATUS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65033" y="3108960"/>
            <a:ext cx="175802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tiers, recognition &amp; access. Protects margin.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65033" y="5212080"/>
            <a:ext cx="17580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70531" y="1874520"/>
            <a:ext cx="2050633" cy="3840480"/>
          </a:xfrm>
          <a:prstGeom prst="roundRect">
            <a:avLst>
              <a:gd name="adj" fmla="val 4013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6835" y="2075688"/>
            <a:ext cx="175802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DO+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6835" y="2743200"/>
            <a:ext cx="175802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MEMBERSHIP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6835" y="3108960"/>
            <a:ext cx="175802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shipping, warranty, credits. Lock-in — later.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6835" y="5212080"/>
            <a:ext cx="17580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22332" y="1874520"/>
            <a:ext cx="2050633" cy="3840480"/>
          </a:xfrm>
          <a:prstGeom prst="roundRect">
            <a:avLst>
              <a:gd name="adj" fmla="val 4013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68636" y="2075688"/>
            <a:ext cx="175802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DO Studio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68636" y="2743200"/>
            <a:ext cx="175802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68636" y="3108960"/>
            <a:ext cx="175802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Contests, collabs, member-designed products. Defensible.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68636" y="5212080"/>
            <a:ext cx="17580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74134" y="1874520"/>
            <a:ext cx="2050633" cy="3840480"/>
          </a:xfrm>
          <a:prstGeom prst="roundRect">
            <a:avLst>
              <a:gd name="adj" fmla="val 4013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20438" y="2075688"/>
            <a:ext cx="175802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The DO Membership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20438" y="2743200"/>
            <a:ext cx="175802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20438" y="3108960"/>
            <a:ext cx="175802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four, phased, omnichannel identity. Recommended.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20438" y="5212080"/>
            <a:ext cx="17580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hybrid wins decisively</a:t>
            </a:r>
            <a:endParaRPr lang="en-US" sz="3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29968" y="1828800"/>
          <a:ext cx="813175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32688"/>
                <a:gridCol w="932688"/>
                <a:gridCol w="932688"/>
                <a:gridCol w="932688"/>
                <a:gridCol w="102412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Comm.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Hybrid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retention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Emotional connection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Omnichannel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ease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total (of 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6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663440"/>
            <a:ext cx="3657600" cy="3657600"/>
          </a:xfrm>
          <a:prstGeom prst="ellipse">
            <a:avLst/>
          </a:prstGeom>
          <a:solidFill>
            <a:srgbClr val="2A2E40"/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5394960"/>
            <a:ext cx="2194560" cy="2194560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"DO Circle"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20574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tiered, omnichannel membership built on design identity, ecosystem collection and recognition — not discounts. Optional paid DO+ upgrade later.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3063240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2A2E40"/>
          </a:solidFill>
          <a:ln w="9525">
            <a:solidFill>
              <a:srgbClr val="3A3F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3118104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promise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35808" y="3118104"/>
            <a:ext cx="813175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more you make DailyObjects part of your everyday, the more you're recognised, rewarded and let in first."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840480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2A2E40"/>
          </a:solidFill>
          <a:ln w="9525">
            <a:solidFill>
              <a:srgbClr val="3A3F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895344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35808" y="3895344"/>
            <a:ext cx="813175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Points/₹ (tier-multiplied) + bonus for 2nd purchase, cross-category, reviews, referrals, app, trade-in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617720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2A2E40"/>
          </a:solidFill>
          <a:ln w="9525">
            <a:solidFill>
              <a:srgbClr val="3A3F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72584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35808" y="4672584"/>
            <a:ext cx="813175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status — early drops, member colourways, birthday gifts, concierge, experiences, "complete your Stack"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394960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2A2E40"/>
          </a:solidFill>
          <a:ln w="9525">
            <a:solidFill>
              <a:srgbClr val="3A3F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5449824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35808" y="5449824"/>
            <a:ext cx="813175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 holdout from day one · north-star = incremental margin/member + 90-day repeat-rate lift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free tiers — Insider · Icon · Studio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503066" cy="3931920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148840"/>
            <a:ext cx="3045866" cy="640080"/>
          </a:xfrm>
          <a:prstGeom prst="roundRect">
            <a:avLst>
              <a:gd name="adj" fmla="val 8571"/>
            </a:avLst>
          </a:prstGeom>
          <a:solidFill>
            <a:srgbClr val="2E7D74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148840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30458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joins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3383280"/>
            <a:ext cx="295442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bonus · points on every order · free-shipping threshold · birthday reward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5349240"/>
            <a:ext cx="29544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4314" y="1874520"/>
            <a:ext cx="3503066" cy="3931920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914" y="2148840"/>
            <a:ext cx="3045866" cy="640080"/>
          </a:xfrm>
          <a:prstGeom prst="roundRect">
            <a:avLst>
              <a:gd name="adj" fmla="val 8571"/>
            </a:avLst>
          </a:prstGeom>
          <a:solidFill>
            <a:srgbClr val="C2673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914" y="2148840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914" y="2926080"/>
            <a:ext cx="30458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Top 40% by 12-mo spend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18634" y="3383280"/>
            <a:ext cx="295442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Insider + early access to drops · birthday gift · member colourways · points multiplier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18634" y="5349240"/>
            <a:ext cx="29544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21701" y="1874520"/>
            <a:ext cx="3503066" cy="3931920"/>
          </a:xfrm>
          <a:prstGeom prst="roundRect">
            <a:avLst>
              <a:gd name="adj" fmla="val 2349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0301" y="2148840"/>
            <a:ext cx="3045866" cy="640080"/>
          </a:xfrm>
          <a:prstGeom prst="roundRect">
            <a:avLst>
              <a:gd name="adj" fmla="val 8571"/>
            </a:avLst>
          </a:prstGeom>
          <a:solidFill>
            <a:srgbClr val="1B1E2B"/>
          </a:solidFill>
          <a:ln/>
        </p:spPr>
      </p:sp>
      <p:sp>
        <p:nvSpPr>
          <p:cNvPr id="18" name="Text 16"/>
          <p:cNvSpPr/>
          <p:nvPr/>
        </p:nvSpPr>
        <p:spPr>
          <a:xfrm>
            <a:off x="8350301" y="2148840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50301" y="2926080"/>
            <a:ext cx="30458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Top 5% / VIP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96021" y="3383280"/>
            <a:ext cx="295442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Icon + custom-design credit · priority &amp; concierge · invitations · protected status · experiences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96021" y="5349240"/>
            <a:ext cx="29544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TO TEST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the margin-safe, high-impact five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943600" cy="4023360"/>
          </a:xfrm>
          <a:prstGeom prst="roundRect">
            <a:avLst>
              <a:gd name="adj" fmla="val 2045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011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FIRST — P1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59536" y="2478024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478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24231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bonus  </a:t>
            </a:r>
            <a:pPr indent="0" marL="0">
              <a:buNone/>
            </a:pPr>
            <a:r>
              <a:rPr lang="en-US" sz="11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Enrol → first redemption (fast reward)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9536" y="3136392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3136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16736" y="30815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free shipping  </a:t>
            </a:r>
            <a:pPr indent="0" marL="0">
              <a:buNone/>
            </a:pPr>
            <a:r>
              <a:rPr lang="en-US" sz="11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AOV + second purchase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9536" y="3794760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3794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16736" y="373989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to drops  </a:t>
            </a:r>
            <a:pPr indent="0" marL="0">
              <a:buNone/>
            </a:pPr>
            <a:r>
              <a:rPr lang="en-US" sz="11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Frequency + app opens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9536" y="4453128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3982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reward  </a:t>
            </a:r>
            <a:pPr indent="0" marL="0">
              <a:buNone/>
            </a:pPr>
            <a:r>
              <a:rPr lang="en-US" sz="11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Reactivation + goodwill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59536" y="5111496"/>
            <a:ext cx="310896" cy="310896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" y="5111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16736" y="50566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(give-get)  </a:t>
            </a:r>
            <a:pPr indent="0" marL="0">
              <a:buNone/>
            </a:pPr>
            <a:r>
              <a:rPr lang="en-US" sz="11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Low-cost acquisition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84848" y="1828800"/>
            <a:ext cx="4839919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59168" y="2011680"/>
            <a:ext cx="4291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LATER — P2 / P3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04888" y="2423160"/>
            <a:ext cx="4291279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multiplier by tier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Member-only colourways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warranty / protection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personalisation credit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"Complete your Stack" unlock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Gifting engine &amp; occasion reminders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&amp; experiences (Studio)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Trade-in / sustainability currency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DO+ tier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→ loyalty response → CRM → objective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1454288" cy="3108960"/>
          </a:xfrm>
          <a:prstGeom prst="roundRect">
            <a:avLst>
              <a:gd name="adj" fmla="val 5659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1192" y="2414016"/>
            <a:ext cx="365760" cy="365760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6" name="Text 4"/>
          <p:cNvSpPr/>
          <p:nvPr/>
        </p:nvSpPr>
        <p:spPr>
          <a:xfrm>
            <a:off x="1111192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907792"/>
            <a:ext cx="127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6656" y="3429000"/>
            <a:ext cx="12348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welcome bonus + tier card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6656" y="4736592"/>
            <a:ext cx="123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67520" y="2194560"/>
            <a:ext cx="1454288" cy="3108960"/>
          </a:xfrm>
          <a:prstGeom prst="roundRect">
            <a:avLst>
              <a:gd name="adj" fmla="val 5659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11784" y="2414016"/>
            <a:ext cx="365760" cy="365760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12" name="Text 10"/>
          <p:cNvSpPr/>
          <p:nvPr/>
        </p:nvSpPr>
        <p:spPr>
          <a:xfrm>
            <a:off x="2711784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58960" y="2907792"/>
            <a:ext cx="127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 order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277248" y="3429000"/>
            <a:ext cx="12348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shown + premium unboxing + "next order free ship"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77248" y="4736592"/>
            <a:ext cx="123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2nd-purchase conversion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68112" y="2194560"/>
            <a:ext cx="1454288" cy="3108960"/>
          </a:xfrm>
          <a:prstGeom prst="roundRect">
            <a:avLst>
              <a:gd name="adj" fmla="val 5659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12376" y="2414016"/>
            <a:ext cx="365760" cy="365760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18" name="Text 16"/>
          <p:cNvSpPr/>
          <p:nvPr/>
        </p:nvSpPr>
        <p:spPr>
          <a:xfrm>
            <a:off x="4312376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59552" y="2907792"/>
            <a:ext cx="127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 order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77840" y="3429000"/>
            <a:ext cx="12348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benefit + tier progress + cross-cat rec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77840" y="4736592"/>
            <a:ext cx="123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+ cross-category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68704" y="2194560"/>
            <a:ext cx="1454288" cy="3108960"/>
          </a:xfrm>
          <a:prstGeom prst="roundRect">
            <a:avLst>
              <a:gd name="adj" fmla="val 5659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12968" y="2414016"/>
            <a:ext cx="365760" cy="365760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24" name="Text 22"/>
          <p:cNvSpPr/>
          <p:nvPr/>
        </p:nvSpPr>
        <p:spPr>
          <a:xfrm>
            <a:off x="5912968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60144" y="2907792"/>
            <a:ext cx="127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3rd order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78432" y="3429000"/>
            <a:ext cx="12348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up + early-access + referral prompt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78432" y="4736592"/>
            <a:ext cx="123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+ advocacy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69296" y="2194560"/>
            <a:ext cx="1454288" cy="3108960"/>
          </a:xfrm>
          <a:prstGeom prst="roundRect">
            <a:avLst>
              <a:gd name="adj" fmla="val 5659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13559" y="2414016"/>
            <a:ext cx="365760" cy="365760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30" name="Text 28"/>
          <p:cNvSpPr/>
          <p:nvPr/>
        </p:nvSpPr>
        <p:spPr>
          <a:xfrm>
            <a:off x="7513559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60736" y="2907792"/>
            <a:ext cx="127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079024" y="3429000"/>
            <a:ext cx="12348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gift + priority + exclusive colourway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79024" y="4736592"/>
            <a:ext cx="123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+ AOV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569887" y="2194560"/>
            <a:ext cx="1454288" cy="3108960"/>
          </a:xfrm>
          <a:prstGeom prst="roundRect">
            <a:avLst>
              <a:gd name="adj" fmla="val 5659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14151" y="2414016"/>
            <a:ext cx="365760" cy="365760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36" name="Text 34"/>
          <p:cNvSpPr/>
          <p:nvPr/>
        </p:nvSpPr>
        <p:spPr>
          <a:xfrm>
            <a:off x="9114151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661327" y="2907792"/>
            <a:ext cx="127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Dormant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679615" y="3429000"/>
            <a:ext cx="12348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+ expiry + new-phone trigger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79615" y="4736592"/>
            <a:ext cx="123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170479" y="2194560"/>
            <a:ext cx="1454288" cy="3108960"/>
          </a:xfrm>
          <a:prstGeom prst="roundRect">
            <a:avLst>
              <a:gd name="adj" fmla="val 5659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714743" y="2414016"/>
            <a:ext cx="365760" cy="365760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42" name="Text 40"/>
          <p:cNvSpPr/>
          <p:nvPr/>
        </p:nvSpPr>
        <p:spPr>
          <a:xfrm>
            <a:off x="10714743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261919" y="2907792"/>
            <a:ext cx="127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0280207" y="3429000"/>
            <a:ext cx="12348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+ custom design + invitations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280207" y="4736592"/>
            <a:ext cx="123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+ advocacy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66928" y="562356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intervention is first → second purchase (highlighted).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PERSONALISATION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MoEngage as the orchestration brain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6692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011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journeys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6968" y="237744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&amp; welcome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1st-order onboarding + cross-cat sampler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2nd-purchase nudge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Tier-up celebration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Points-expiry (60/30/7 days)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&amp; new-phone-launch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replenishment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for dormant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10528" y="1828800"/>
            <a:ext cx="5114239" cy="4023360"/>
          </a:xfrm>
          <a:prstGeom prst="roundRect">
            <a:avLst>
              <a:gd name="adj" fmla="val 2045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84848" y="2011680"/>
            <a:ext cx="45655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strategy (India)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84848" y="2423160"/>
            <a:ext cx="456559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WhatsApp-led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engagement — the primary channel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84848" y="3200400"/>
            <a:ext cx="456559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push · email · SMS · in-app, with channel arbitration and strict consent.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84848" y="3977640"/>
            <a:ext cx="4565599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 category, device-aware recommendations, tier-specific offers — driven by RFM + category + device model.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layers, one identity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57839" cy="475488"/>
          </a:xfrm>
          <a:prstGeom prst="roundRect">
            <a:avLst>
              <a:gd name="adj" fmla="val 11538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Identity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41648" y="1828800"/>
            <a:ext cx="730879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customer ID on phone number — online + offline + marketplace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377440"/>
            <a:ext cx="11057839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774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CDP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41648" y="2377440"/>
            <a:ext cx="730879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real-time profile: device, categories owned, Stack, RFM, tier, consent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926080"/>
            <a:ext cx="11057839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92608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Loyalty engine (buy)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41648" y="2926080"/>
            <a:ext cx="730879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ledger, tiers, entitlements, redemptions, liability, referrals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474720"/>
            <a:ext cx="11057839" cy="475488"/>
          </a:xfrm>
          <a:prstGeom prst="roundRect">
            <a:avLst>
              <a:gd name="adj" fmla="val 11538"/>
            </a:avLst>
          </a:prstGeom>
          <a:solidFill>
            <a:srgbClr val="EFE7DC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47472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CRM — MoEngage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41648" y="3474720"/>
            <a:ext cx="730879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Segments, journeys, triggers across WhatsApp/push/email/SMS/in-app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023360"/>
            <a:ext cx="11057839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02336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Commerce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41648" y="4023360"/>
            <a:ext cx="730879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app + checkout show points/tier &amp; apply benefits; OMS links orders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572000"/>
            <a:ext cx="11057839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5720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Offline / POS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41648" y="4572000"/>
            <a:ext cx="730879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 till by phone/QR; earn + burn + recognise in-store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120640"/>
            <a:ext cx="11057839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1206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Analytics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041648" y="5120640"/>
            <a:ext cx="730879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measurement, dashboards, CLV, segmentation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5742432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Sequencing: Phase 1 online identity + engine + MoEngage · Phase 2 POS for true omnichannel · Phase 3 marketplace + ML.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incrementality, not correlation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5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Correlation (do not over-trust)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86968" y="2468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spend more than non-members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tiers spend more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contaminated by selection bias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1248" y="3794760"/>
            <a:ext cx="4846320" cy="0"/>
          </a:xfrm>
          <a:prstGeom prst="line">
            <a:avLst/>
          </a:prstGeom>
          <a:noFill/>
          <a:ln w="12700">
            <a:solidFill>
              <a:srgbClr val="E3DB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931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Incrementality (decision-grade)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6968" y="43434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vs holdout repeat-rate lift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margin per member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&amp; AOV lift from tests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6208" y="1828800"/>
            <a:ext cx="5388559" cy="4023360"/>
          </a:xfrm>
          <a:prstGeom prst="roundRect">
            <a:avLst>
              <a:gd name="adj" fmla="val 2045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0528" y="2011680"/>
            <a:ext cx="48399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KPI 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28816" y="2423160"/>
            <a:ext cx="48399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 </a:t>
            </a:r>
            <a:pPr indent="0" marL="0">
              <a:buNone/>
            </a:pPr>
            <a:r>
              <a:rPr lang="en-US" sz="11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rate · % checkouts identified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28816" y="2953512"/>
            <a:ext cx="48399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 </a:t>
            </a:r>
            <a:pPr indent="0" marL="0">
              <a:buNone/>
            </a:pPr>
            <a:r>
              <a:rPr lang="en-US" sz="11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· redemption rate · tier mix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8816" y="3483864"/>
            <a:ext cx="48399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 </a:t>
            </a:r>
            <a:pPr indent="0" marL="0">
              <a:buNone/>
            </a:pPr>
            <a:r>
              <a:rPr lang="en-US" sz="11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 · time-to-2nd · cross-cat · AOV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8816" y="4014216"/>
            <a:ext cx="48399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 </a:t>
            </a:r>
            <a:pPr indent="0" marL="0">
              <a:buNone/>
            </a:pPr>
            <a:r>
              <a:rPr lang="en-US" sz="11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margin/member · CLV · breakage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28816" y="4544568"/>
            <a:ext cx="48399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 </a:t>
            </a:r>
            <a:pPr indent="0" marL="0">
              <a:buNone/>
            </a:pPr>
            <a:r>
              <a:rPr lang="en-US" sz="11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· tier migration · reactivation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28816" y="5074920"/>
            <a:ext cx="48399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Advocacy  </a:t>
            </a:r>
            <a:pPr indent="0" marL="0">
              <a:buNone/>
            </a:pPr>
            <a:r>
              <a:rPr lang="en-US" sz="11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K-factor · UGC · NPS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0528" y="5623560"/>
            <a:ext cx="483991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North-star: incremental contribution margin per member vs holdout + 90-day repeat-rate lift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5–10% holdout from day one</a:t>
            </a:r>
            <a:endParaRPr lang="en-US" sz="31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7839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11680"/>
                <a:gridCol w="2743200"/>
                <a:gridCol w="3468319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bonus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pts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pts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60-day 2nd-purchase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Free-ship 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₹1,499 vs 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AOV, conversion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24h member early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sell-through, app opens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cutoff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0.8X vs 1.2X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reaching tier, retention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 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vs 18 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Redemption, reactivation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Reactivation offer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personalised pts+category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Dormant win-back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66928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defines control, treatment, powered sample, ≥1 purchase cycle, primary/secondary KPIs and guardrails (margin, discount depth, breakage, NPS).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the base, then earn the right to layer 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503066" cy="3931920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148840"/>
            <a:ext cx="3045866" cy="502920"/>
          </a:xfrm>
          <a:prstGeom prst="roundRect">
            <a:avLst>
              <a:gd name="adj" fmla="val 10909"/>
            </a:avLst>
          </a:prstGeom>
          <a:solidFill>
            <a:srgbClr val="C2673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148840"/>
            <a:ext cx="30458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2954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337560"/>
            <a:ext cx="295442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identity/data · relaunch DO Circle (points + 3 tiers + welcome/birthday/referral/free-ship + early access) · stand up MoEngage · install the holdout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4314" y="1874520"/>
            <a:ext cx="3503066" cy="3931920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914" y="2148840"/>
            <a:ext cx="3045866" cy="502920"/>
          </a:xfrm>
          <a:prstGeom prst="roundRect">
            <a:avLst>
              <a:gd name="adj" fmla="val 10909"/>
            </a:avLst>
          </a:prstGeom>
          <a:solidFill>
            <a:srgbClr val="2E7D7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914" y="2148840"/>
            <a:ext cx="30458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18634" y="2788920"/>
            <a:ext cx="2954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8634" y="3337560"/>
            <a:ext cx="295442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&amp; "Stack" mechanics · gifting engine · device-lifecycle triggers · EBO POS earn/burn pilot · first experiments read 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1701" y="1874520"/>
            <a:ext cx="3503066" cy="3931920"/>
          </a:xfrm>
          <a:prstGeom prst="roundRect">
            <a:avLst>
              <a:gd name="adj" fmla="val 2349"/>
            </a:avLst>
          </a:prstGeom>
          <a:solidFill>
            <a:srgbClr val="1B1E2B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0301" y="2148840"/>
            <a:ext cx="3045866" cy="502920"/>
          </a:xfrm>
          <a:prstGeom prst="roundRect">
            <a:avLst>
              <a:gd name="adj" fmla="val 10909"/>
            </a:avLst>
          </a:prstGeom>
          <a:solidFill>
            <a:srgbClr val="1B1E2B"/>
          </a:solidFill>
          <a:ln/>
        </p:spPr>
      </p:sp>
      <p:sp>
        <p:nvSpPr>
          <p:cNvPr id="16" name="Text 14"/>
          <p:cNvSpPr/>
          <p:nvPr/>
        </p:nvSpPr>
        <p:spPr>
          <a:xfrm>
            <a:off x="8350301" y="2148840"/>
            <a:ext cx="30458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MONTHS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96021" y="2788920"/>
            <a:ext cx="2954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Omnichannel &amp; community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6021" y="3337560"/>
            <a:ext cx="295442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store recognition · community/UGC + drops · member colourways · deeper personalisation · expand experiments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023360" cy="4023360"/>
          </a:xfrm>
          <a:prstGeom prst="ellipse">
            <a:avLst/>
          </a:prstGeom>
          <a:solidFill>
            <a:srgbClr val="2A2E40"/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-640080"/>
            <a:ext cx="2377440" cy="2377440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MONTHS &amp; THE VISION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becomes the backbone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219456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optional DO+ paid tier · creator / design society with member-designed products · sustainability &amp; trade-in currency · partnerships — with the loyalty programme as the first-party-data backbone across 150 stores.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3383280"/>
            <a:ext cx="11057839" cy="2468880"/>
          </a:xfrm>
          <a:prstGeom prst="roundRect">
            <a:avLst>
              <a:gd name="adj" fmla="val 3333"/>
            </a:avLst>
          </a:prstGeom>
          <a:solidFill>
            <a:srgbClr val="2A2E40"/>
          </a:solidFill>
          <a:ln w="12700">
            <a:solidFill>
              <a:srgbClr val="E3DBD1"/>
            </a:solidFill>
            <a:prstDash val="solid"/>
          </a:ln>
          <a:effectLst>
            <a:outerShdw sx="100000" sy="100000" kx="0" ky="0" algn="bl" rotWithShape="0" blurRad="88900" dist="25400" dir="5400000">
              <a:srgbClr val="8A7F7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6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 call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4023360"/>
            <a:ext cx="10417759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tiered omnichannel membership now; paid upgrade and creator ecosystem later.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lead with discounts. Lead with recognition, access and design identity — that is what fits DailyObjects, and what competitors cannot easily copy.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DailyObjects  ·  Loyalty Strategy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DailyObjects Loyalty Strategy</dc:creator>
  <cp:lastModifiedBy>DailyObjects Loyalty Strategy</cp:lastModifiedBy>
  <cp:revision>1</cp:revision>
  <dcterms:created xsi:type="dcterms:W3CDTF">2026-08-17T13:02:36Z</dcterms:created>
  <dcterms:modified xsi:type="dcterms:W3CDTF">2026-08-17T13:02:36Z</dcterms:modified>
</cp:coreProperties>
</file>